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8" r:id="rId3"/>
    <p:sldId id="273" r:id="rId4"/>
    <p:sldId id="272" r:id="rId5"/>
    <p:sldId id="260" r:id="rId6"/>
    <p:sldId id="261" r:id="rId7"/>
    <p:sldId id="274" r:id="rId8"/>
    <p:sldId id="275" r:id="rId9"/>
    <p:sldId id="276" r:id="rId10"/>
    <p:sldId id="262" r:id="rId11"/>
    <p:sldId id="263" r:id="rId12"/>
    <p:sldId id="264" r:id="rId13"/>
    <p:sldId id="266" r:id="rId14"/>
    <p:sldId id="269" r:id="rId15"/>
    <p:sldId id="265" r:id="rId16"/>
    <p:sldId id="267" r:id="rId17"/>
    <p:sldId id="268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8" autoAdjust="0"/>
  </p:normalViewPr>
  <p:slideViewPr>
    <p:cSldViewPr snapToGrid="0" showGuides="1">
      <p:cViewPr varScale="1">
        <p:scale>
          <a:sx n="114" d="100"/>
          <a:sy n="114" d="100"/>
        </p:scale>
        <p:origin x="3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32D13-FF59-4809-A92A-AFAC17D8C0DC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49D93-4FDE-4777-8A7C-8DF4719709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1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49D93-4FDE-4777-8A7C-8DF4719709A3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327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171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129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565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60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739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70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457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013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798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557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872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122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4847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818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7734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316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169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09A7A65-997B-42A6-B092-B1775680AF95}" type="datetimeFigureOut">
              <a:rPr lang="es-MX" smtClean="0"/>
              <a:t>14/04/2026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132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8B76E31-203E-D67A-A99E-CC004B70CE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5CC6FA-8371-2260-B5FD-A0075F9EE112}"/>
              </a:ext>
            </a:extLst>
          </p:cNvPr>
          <p:cNvSpPr/>
          <p:nvPr/>
        </p:nvSpPr>
        <p:spPr>
          <a:xfrm>
            <a:off x="0" y="4978400"/>
            <a:ext cx="12192000" cy="1879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374087-FB8A-9131-6DD3-40C6B5050BAC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07B3A30-EE52-2C2D-F7E7-CDCCC6E02E75}"/>
              </a:ext>
            </a:extLst>
          </p:cNvPr>
          <p:cNvSpPr txBox="1"/>
          <p:nvPr/>
        </p:nvSpPr>
        <p:spPr>
          <a:xfrm>
            <a:off x="889000" y="1219200"/>
            <a:ext cx="9906000" cy="77970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Aptos" panose="020B0004020202020204" pitchFamily="34" charset="0"/>
              </a:rPr>
              <a:t>TI Garantias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69551A-21F3-E0B3-BE6C-2D734715B4CD}"/>
              </a:ext>
            </a:extLst>
          </p:cNvPr>
          <p:cNvSpPr txBox="1"/>
          <p:nvPr/>
        </p:nvSpPr>
        <p:spPr>
          <a:xfrm>
            <a:off x="914400" y="2209800"/>
            <a:ext cx="9779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>
                <a:solidFill>
                  <a:srgbClr val="E0F2FE"/>
                </a:solidFill>
                <a:latin typeface="Aptos" panose="020B0004020202020204" pitchFamily="34" charset="0"/>
              </a:rPr>
              <a:t>Portal Interno de Garantias, Retenciones y Devolucion de TI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3F3371-50B2-B80D-57FB-87C2B932F138}"/>
              </a:ext>
            </a:extLst>
          </p:cNvPr>
          <p:cNvSpPr txBox="1"/>
          <p:nvPr/>
        </p:nvSpPr>
        <p:spPr>
          <a:xfrm>
            <a:off x="914400" y="3175000"/>
            <a:ext cx="660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>
                <a:solidFill>
                  <a:srgbClr val="FFFFFF"/>
                </a:solidFill>
                <a:latin typeface="Aptos" panose="020B0004020202020204" pitchFamily="34" charset="0"/>
              </a:rPr>
              <a:t>Proyecto final - Practicas DevOps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4EEE22-C09C-99E1-7789-C04C57560CE2}"/>
              </a:ext>
            </a:extLst>
          </p:cNvPr>
          <p:cNvSpPr txBox="1"/>
          <p:nvPr/>
        </p:nvSpPr>
        <p:spPr>
          <a:xfrm>
            <a:off x="914400" y="5257800"/>
            <a:ext cx="9144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>
                <a:solidFill>
                  <a:srgbClr val="FFFFFF"/>
                </a:solidFill>
                <a:latin typeface="Aptos" panose="020B0004020202020204" pitchFamily="34" charset="0"/>
              </a:rPr>
              <a:t>Grupo 1: Armando Chavez, Geovanny Robles, Guido Vallejo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F1637F-A717-F1F4-8618-79B612278519}"/>
              </a:ext>
            </a:extLst>
          </p:cNvPr>
          <p:cNvSpPr txBox="1"/>
          <p:nvPr/>
        </p:nvSpPr>
        <p:spPr>
          <a:xfrm>
            <a:off x="914400" y="5867400"/>
            <a:ext cx="9652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de-DE" sz="1400">
                <a:solidFill>
                  <a:srgbClr val="E0F2FE"/>
                </a:solidFill>
                <a:latin typeface="Aptos" panose="020B0004020202020204" pitchFamily="34" charset="0"/>
              </a:rPr>
              <a:t>Angular + .NET 8 + PostgreSQL + Docker + Terraform + Jenkins + Azure</a:t>
            </a:r>
            <a:endParaRPr lang="es-MX" sz="14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8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E9C957-6684-7358-5964-90B146873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881752-05A2-3736-D46D-CB123E42248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8787A0-64DC-D7D3-F83F-9AE845418CB3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B30EFD-F899-0B38-DB5C-AFCCCE9C5183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Contexto y Objetivo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79B259-E125-978D-DC38-588C0EEA38A6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Que problema resolvemos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2502F16-6416-78C2-D85F-A98AFB984BE0}"/>
              </a:ext>
            </a:extLst>
          </p:cNvPr>
          <p:cNvSpPr/>
          <p:nvPr/>
        </p:nvSpPr>
        <p:spPr>
          <a:xfrm>
            <a:off x="812800" y="1422400"/>
            <a:ext cx="49784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921AA7B-B7E0-C183-603C-959BB6A8B733}"/>
              </a:ext>
            </a:extLst>
          </p:cNvPr>
          <p:cNvSpPr txBox="1"/>
          <p:nvPr/>
        </p:nvSpPr>
        <p:spPr>
          <a:xfrm>
            <a:off x="1168400" y="17526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Situacion inicial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17D27F-1476-F24E-C6AB-1B2467433CFD}"/>
              </a:ext>
            </a:extLst>
          </p:cNvPr>
          <p:cNvSpPr txBox="1"/>
          <p:nvPr/>
        </p:nvSpPr>
        <p:spPr>
          <a:xfrm>
            <a:off x="1117600" y="2362200"/>
            <a:ext cx="4191000" cy="219547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Procesos de garantías, retenciones y devoluciones con trazabilidad limitada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Necesidad de centralizar facturas, contratos, entregables.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Riesgo operativo al depender de despliegues manuales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Falta de visibilidad rápida sobre salud, métricas y logs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809BAFA-03B9-1F4C-DE67-2C2836145AF8}"/>
              </a:ext>
            </a:extLst>
          </p:cNvPr>
          <p:cNvSpPr/>
          <p:nvPr/>
        </p:nvSpPr>
        <p:spPr>
          <a:xfrm>
            <a:off x="6400800" y="1422400"/>
            <a:ext cx="49784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1A5B81-FD1E-7ABD-B3FE-DF96068ECC9D}"/>
              </a:ext>
            </a:extLst>
          </p:cNvPr>
          <p:cNvSpPr txBox="1"/>
          <p:nvPr/>
        </p:nvSpPr>
        <p:spPr>
          <a:xfrm>
            <a:off x="6756400" y="17526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Objetivo del piloto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24EBBB-E379-4B7C-D2A4-2FA634F34ED8}"/>
              </a:ext>
            </a:extLst>
          </p:cNvPr>
          <p:cNvSpPr txBox="1"/>
          <p:nvPr/>
        </p:nvSpPr>
        <p:spPr>
          <a:xfrm>
            <a:off x="6794500" y="2462068"/>
            <a:ext cx="4191000" cy="193386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Construir un portal interno seguro y auditable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Automatizar Build, pruebas, empaquetado y despliegue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Manejar infraestructura como Código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Operar en Azure Container Apps con monitoreo y secretos centralizados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7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932142D-A741-E562-4FA6-81F1D60B92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DF3AB6-E111-7207-051D-24BF5550A50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F172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887152-7220-0DEA-39D6-D334417323FA}"/>
              </a:ext>
            </a:extLst>
          </p:cNvPr>
          <p:cNvSpPr/>
          <p:nvPr/>
        </p:nvSpPr>
        <p:spPr>
          <a:xfrm>
            <a:off x="330200" y="990600"/>
            <a:ext cx="2794000" cy="4445000"/>
          </a:xfrm>
          <a:prstGeom prst="rect">
            <a:avLst/>
          </a:prstGeom>
          <a:solidFill>
            <a:srgbClr val="FFF6EE"/>
          </a:solidFill>
          <a:ln w="13970">
            <a:solidFill>
              <a:srgbClr val="DBC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7BBB74-3329-0CA0-BB72-8A5FC3528A67}"/>
              </a:ext>
            </a:extLst>
          </p:cNvPr>
          <p:cNvSpPr txBox="1"/>
          <p:nvPr/>
        </p:nvSpPr>
        <p:spPr>
          <a:xfrm>
            <a:off x="533400" y="1244600"/>
            <a:ext cx="2095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A3217"/>
                </a:solidFill>
                <a:latin typeface="Aptos Display" panose="020B0004020202020204" pitchFamily="34" charset="0"/>
              </a:rPr>
              <a:t>Gestion del Trabajo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91B28F-58FB-AA12-1BF1-9C6D5BDF65BA}"/>
              </a:ext>
            </a:extLst>
          </p:cNvPr>
          <p:cNvSpPr txBox="1"/>
          <p:nvPr/>
        </p:nvSpPr>
        <p:spPr>
          <a:xfrm>
            <a:off x="533400" y="2311400"/>
            <a:ext cx="22860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300">
                <a:solidFill>
                  <a:srgbClr val="3D3123"/>
                </a:solidFill>
                <a:latin typeface="Aptos" panose="020B0004020202020204" pitchFamily="34" charset="0"/>
              </a:rPr>
              <a:t>• Backlog gestionado en Jira con epicas, tareas y responsables.</a:t>
            </a:r>
          </a:p>
          <a:p>
            <a:r>
              <a:rPr lang="es-EC" sz="1300">
                <a:solidFill>
                  <a:srgbClr val="3D3123"/>
                </a:solidFill>
                <a:latin typeface="Aptos" panose="020B0004020202020204" pitchFamily="34" charset="0"/>
              </a:rPr>
              <a:t>• Seguimiento del sprint y avance del equipo.</a:t>
            </a:r>
          </a:p>
          <a:p>
            <a:r>
              <a:rPr lang="es-EC" sz="1300">
                <a:solidFill>
                  <a:srgbClr val="3D3123"/>
                </a:solidFill>
                <a:latin typeface="Aptos" panose="020B0004020202020204" pitchFamily="34" charset="0"/>
              </a:rPr>
              <a:t>• Priorizacion por frentes funcionales y tecnicos.</a:t>
            </a:r>
          </a:p>
          <a:p>
            <a:r>
              <a:rPr lang="es-EC" sz="1300">
                <a:solidFill>
                  <a:srgbClr val="3D3123"/>
                </a:solidFill>
                <a:latin typeface="Aptos" panose="020B0004020202020204" pitchFamily="34" charset="0"/>
              </a:rPr>
              <a:t>• Trazabilidad entre Jira y GitHub.</a:t>
            </a:r>
          </a:p>
          <a:p>
            <a:r>
              <a:rPr lang="es-EC" sz="1300">
                <a:solidFill>
                  <a:srgbClr val="3D3123"/>
                </a:solidFill>
                <a:latin typeface="Aptos" panose="020B0004020202020204" pitchFamily="34" charset="0"/>
              </a:rPr>
              <a:t>• Evidencia de ramas, commit, pull request y compilacion asociadas a tareas.</a:t>
            </a:r>
            <a:endParaRPr lang="es-MX" sz="1300">
              <a:solidFill>
                <a:srgbClr val="3D3123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39CA186-138A-87FA-A4FE-7E643C5DB9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066800"/>
            <a:ext cx="3937000" cy="19812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3AEDB69-BB05-B4C2-E1AB-115D093D67C2}"/>
              </a:ext>
            </a:extLst>
          </p:cNvPr>
          <p:cNvSpPr txBox="1"/>
          <p:nvPr/>
        </p:nvSpPr>
        <p:spPr>
          <a:xfrm>
            <a:off x="3302000" y="3098800"/>
            <a:ext cx="393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000">
                <a:solidFill>
                  <a:srgbClr val="65554A"/>
                </a:solidFill>
                <a:latin typeface="Aptos" panose="020B0004020202020204" pitchFamily="34" charset="0"/>
              </a:rPr>
              <a:t>Vista general de Jira: backlog, actividad y seguimiento del espacio.</a:t>
            </a:r>
            <a:endParaRPr lang="es-MX" sz="1000">
              <a:solidFill>
                <a:srgbClr val="65554A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24868CC-6748-E7D8-C5BF-A682CD9C2D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1066800"/>
            <a:ext cx="4064000" cy="2057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A03C40B-48AB-A859-5C04-179854E817DA}"/>
              </a:ext>
            </a:extLst>
          </p:cNvPr>
          <p:cNvSpPr txBox="1"/>
          <p:nvPr/>
        </p:nvSpPr>
        <p:spPr>
          <a:xfrm>
            <a:off x="7493000" y="3149600"/>
            <a:ext cx="406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000">
                <a:solidFill>
                  <a:srgbClr val="65554A"/>
                </a:solidFill>
                <a:latin typeface="Aptos" panose="020B0004020202020204" pitchFamily="34" charset="0"/>
              </a:rPr>
              <a:t>Detalle de tarea vinculada a GitHub: rama, commit, pull request y compilacion.</a:t>
            </a:r>
            <a:endParaRPr lang="es-MX" sz="1000">
              <a:solidFill>
                <a:srgbClr val="65554A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A67EFD2-E33F-B1E8-F619-C517CF50CC27}"/>
              </a:ext>
            </a:extLst>
          </p:cNvPr>
          <p:cNvSpPr/>
          <p:nvPr/>
        </p:nvSpPr>
        <p:spPr>
          <a:xfrm>
            <a:off x="3302000" y="3759200"/>
            <a:ext cx="8255000" cy="1397000"/>
          </a:xfrm>
          <a:prstGeom prst="rect">
            <a:avLst/>
          </a:prstGeom>
          <a:solidFill>
            <a:srgbClr val="EDF7FF"/>
          </a:solidFill>
          <a:ln w="12700">
            <a:solidFill>
              <a:srgbClr val="AFC3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B7DF346-7902-2581-8B23-DC9E215BF8A6}"/>
              </a:ext>
            </a:extLst>
          </p:cNvPr>
          <p:cNvSpPr txBox="1"/>
          <p:nvPr/>
        </p:nvSpPr>
        <p:spPr>
          <a:xfrm>
            <a:off x="3556000" y="3987800"/>
            <a:ext cx="7747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500">
                <a:solidFill>
                  <a:srgbClr val="33445A"/>
                </a:solidFill>
                <a:latin typeface="Aptos" panose="020B0004020202020204" pitchFamily="34" charset="0"/>
              </a:rPr>
              <a:t>Estas capturas evidencian que el trabajo se gestiono en Jira con visibilidad de backlog, sprint y responsables. Ademas, ciertas tareas quedaban conectadas con GitHub, lo que permitia seguir el desarrollo y la integracion continua desde la misma herramienta.</a:t>
            </a:r>
            <a:endParaRPr lang="es-MX" sz="1500">
              <a:solidFill>
                <a:srgbClr val="33445A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9318D3-C62D-9708-F168-3B5C6605F051}"/>
              </a:ext>
            </a:extLst>
          </p:cNvPr>
          <p:cNvSpPr txBox="1"/>
          <p:nvPr/>
        </p:nvSpPr>
        <p:spPr>
          <a:xfrm>
            <a:off x="13144500" y="279400"/>
            <a:ext cx="4318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s-EC" sz="1200">
                <a:solidFill>
                  <a:srgbClr val="FFFFFF"/>
                </a:solidFill>
                <a:latin typeface="Aptos" panose="020B0004020202020204" pitchFamily="34" charset="0"/>
              </a:rPr>
              <a:t>Backlog, priorizacion y seguimiento del proyecto</a:t>
            </a:r>
            <a:endParaRPr lang="es-MX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A6CCA5-315A-487A-D6B2-7CAF79F8BD2A}"/>
              </a:ext>
            </a:extLst>
          </p:cNvPr>
          <p:cNvSpPr txBox="1"/>
          <p:nvPr/>
        </p:nvSpPr>
        <p:spPr>
          <a:xfrm>
            <a:off x="762000" y="152400"/>
            <a:ext cx="4064000" cy="27699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Aptos Display" panose="020B0004020202020204" pitchFamily="34" charset="0"/>
              </a:rPr>
              <a:t>Gestion del Trabajo</a:t>
            </a:r>
          </a:p>
        </p:txBody>
      </p:sp>
    </p:spTree>
    <p:extLst>
      <p:ext uri="{BB962C8B-B14F-4D97-AF65-F5344CB8AC3E}">
        <p14:creationId xmlns:p14="http://schemas.microsoft.com/office/powerpoint/2010/main" val="1490216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0318-FB7A-F2A5-02EE-D798F32F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C5429F-7A78-A6BC-F2C3-1E9304345D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2991B9-614F-AB6A-3E76-9938C445EE1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6B5710-D569-D71E-7BEA-01A7B2D654C4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A76853-C8BE-E0E2-5B50-C7A8108D81C8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 dirty="0" err="1">
                <a:solidFill>
                  <a:srgbClr val="FFFFFF"/>
                </a:solidFill>
                <a:latin typeface="Aptos" panose="020B0004020202020204" pitchFamily="34" charset="0"/>
              </a:rPr>
              <a:t>Solucion</a:t>
            </a:r>
            <a:r>
              <a:rPr lang="es-MX" sz="2400" b="1" dirty="0">
                <a:solidFill>
                  <a:srgbClr val="FFFFFF"/>
                </a:solidFill>
                <a:latin typeface="Aptos" panose="020B0004020202020204" pitchFamily="34" charset="0"/>
              </a:rPr>
              <a:t> Propuesta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FE4C4C-49E3-DF9A-120E-10B4B3942C41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Que problema resolvemos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3F17A99-5C41-0EB8-E0DB-DC6F48D67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4" y="835615"/>
            <a:ext cx="11299049" cy="59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2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664D59-5216-F9EA-56F7-F932CDA19F89}"/>
              </a:ext>
            </a:extLst>
          </p:cNvPr>
          <p:cNvSpPr/>
          <p:nvPr/>
        </p:nvSpPr>
        <p:spPr>
          <a:xfrm>
            <a:off x="0" y="33789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7F7CDD-6A21-6318-BA7B-16E7DD90D709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A72C7F1-9178-1706-5C64-FDCDFAD76505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595D33-0E1A-5D01-102B-74CF26B5C319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Stack Tecnico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2160E4-528D-39A0-5719-D0EAED51FCA8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Componentes principales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8321C2-4C1F-4E80-2FF8-D32A7B184EED}"/>
              </a:ext>
            </a:extLst>
          </p:cNvPr>
          <p:cNvSpPr/>
          <p:nvPr/>
        </p:nvSpPr>
        <p:spPr>
          <a:xfrm>
            <a:off x="228600" y="1498600"/>
            <a:ext cx="2159000" cy="127000"/>
          </a:xfrm>
          <a:prstGeom prst="rect">
            <a:avLst/>
          </a:prstGeom>
          <a:solidFill>
            <a:srgbClr val="E0683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DA054E-8DB0-04C2-2412-0FF332DBC8CE}"/>
              </a:ext>
            </a:extLst>
          </p:cNvPr>
          <p:cNvSpPr/>
          <p:nvPr/>
        </p:nvSpPr>
        <p:spPr>
          <a:xfrm>
            <a:off x="228600" y="1651000"/>
            <a:ext cx="215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F2A90BA-EC2E-0C41-1DA3-6EEF4A03EBFE}"/>
              </a:ext>
            </a:extLst>
          </p:cNvPr>
          <p:cNvSpPr txBox="1"/>
          <p:nvPr/>
        </p:nvSpPr>
        <p:spPr>
          <a:xfrm>
            <a:off x="406400" y="1879600"/>
            <a:ext cx="1803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0271D"/>
                </a:solidFill>
                <a:latin typeface="Aptos Display" panose="020B0004020202020204" pitchFamily="34" charset="0"/>
              </a:rPr>
              <a:t>Frontend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CB640F-12C2-541D-FE18-998543B5DCF3}"/>
              </a:ext>
            </a:extLst>
          </p:cNvPr>
          <p:cNvSpPr txBox="1"/>
          <p:nvPr/>
        </p:nvSpPr>
        <p:spPr>
          <a:xfrm>
            <a:off x="406400" y="2463800"/>
            <a:ext cx="1803400" cy="78483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Angular 20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Angular Material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Nginx proxy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Variables por ambiente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44BEA14-57F0-BD37-588A-065E83041C1B}"/>
              </a:ext>
            </a:extLst>
          </p:cNvPr>
          <p:cNvSpPr/>
          <p:nvPr/>
        </p:nvSpPr>
        <p:spPr>
          <a:xfrm>
            <a:off x="2514600" y="1498600"/>
            <a:ext cx="2159000" cy="127000"/>
          </a:xfrm>
          <a:prstGeom prst="rect">
            <a:avLst/>
          </a:prstGeom>
          <a:solidFill>
            <a:srgbClr val="C7B11F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A5A4B1-65CA-7652-3D13-5FA12F7257C3}"/>
              </a:ext>
            </a:extLst>
          </p:cNvPr>
          <p:cNvSpPr/>
          <p:nvPr/>
        </p:nvSpPr>
        <p:spPr>
          <a:xfrm>
            <a:off x="2514600" y="1651000"/>
            <a:ext cx="215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8C37F2-F836-3946-49F0-02C9FFEF70B5}"/>
              </a:ext>
            </a:extLst>
          </p:cNvPr>
          <p:cNvSpPr txBox="1"/>
          <p:nvPr/>
        </p:nvSpPr>
        <p:spPr>
          <a:xfrm>
            <a:off x="2692400" y="1879600"/>
            <a:ext cx="1803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0271D"/>
                </a:solidFill>
                <a:latin typeface="Aptos Display" panose="020B0004020202020204" pitchFamily="34" charset="0"/>
              </a:rPr>
              <a:t>Backend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A99C40-0996-06C6-9270-4F73AAD6C94F}"/>
              </a:ext>
            </a:extLst>
          </p:cNvPr>
          <p:cNvSpPr txBox="1"/>
          <p:nvPr/>
        </p:nvSpPr>
        <p:spPr>
          <a:xfrm>
            <a:off x="2692400" y="2463800"/>
            <a:ext cx="1803400" cy="78483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ASP.NET Core .NET 8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EF Core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JWT + RBAC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Hangfire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019442B-2B50-842B-F269-014D2B4BABC8}"/>
              </a:ext>
            </a:extLst>
          </p:cNvPr>
          <p:cNvSpPr/>
          <p:nvPr/>
        </p:nvSpPr>
        <p:spPr>
          <a:xfrm>
            <a:off x="4800600" y="1498600"/>
            <a:ext cx="2159000" cy="127000"/>
          </a:xfrm>
          <a:prstGeom prst="rect">
            <a:avLst/>
          </a:prstGeom>
          <a:solidFill>
            <a:srgbClr val="4DC03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02432FC-80E3-78BD-A7F8-9DDF9B07FB0B}"/>
              </a:ext>
            </a:extLst>
          </p:cNvPr>
          <p:cNvSpPr/>
          <p:nvPr/>
        </p:nvSpPr>
        <p:spPr>
          <a:xfrm>
            <a:off x="4800600" y="1651000"/>
            <a:ext cx="215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18B116-9D12-496E-DDF2-66F6AC70E5C1}"/>
              </a:ext>
            </a:extLst>
          </p:cNvPr>
          <p:cNvSpPr txBox="1"/>
          <p:nvPr/>
        </p:nvSpPr>
        <p:spPr>
          <a:xfrm>
            <a:off x="4978400" y="1879600"/>
            <a:ext cx="1803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0271D"/>
                </a:solidFill>
                <a:latin typeface="Aptos Display" panose="020B0004020202020204" pitchFamily="34" charset="0"/>
              </a:rPr>
              <a:t>Datos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62C2347-CEEE-04F6-B13D-16CB376696FD}"/>
              </a:ext>
            </a:extLst>
          </p:cNvPr>
          <p:cNvSpPr txBox="1"/>
          <p:nvPr/>
        </p:nvSpPr>
        <p:spPr>
          <a:xfrm>
            <a:off x="4978400" y="2463800"/>
            <a:ext cx="1803400" cy="78483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PostgreSQL 16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Schema core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Adjuntos fuera de BD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Azure Files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E1C292-6685-F856-A99D-4A9B0F53F402}"/>
              </a:ext>
            </a:extLst>
          </p:cNvPr>
          <p:cNvSpPr/>
          <p:nvPr/>
        </p:nvSpPr>
        <p:spPr>
          <a:xfrm>
            <a:off x="7086600" y="1498600"/>
            <a:ext cx="2159000" cy="127000"/>
          </a:xfrm>
          <a:prstGeom prst="rect">
            <a:avLst/>
          </a:prstGeom>
          <a:solidFill>
            <a:srgbClr val="13A3F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1C8F651-7F13-C82F-E637-C5183A30F023}"/>
              </a:ext>
            </a:extLst>
          </p:cNvPr>
          <p:cNvSpPr/>
          <p:nvPr/>
        </p:nvSpPr>
        <p:spPr>
          <a:xfrm>
            <a:off x="7086600" y="1651000"/>
            <a:ext cx="215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9006DF5-8B77-F866-7A1A-D32491B02C8F}"/>
              </a:ext>
            </a:extLst>
          </p:cNvPr>
          <p:cNvSpPr txBox="1"/>
          <p:nvPr/>
        </p:nvSpPr>
        <p:spPr>
          <a:xfrm>
            <a:off x="7264400" y="1879600"/>
            <a:ext cx="1803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0271D"/>
                </a:solidFill>
                <a:latin typeface="Aptos Display" panose="020B0004020202020204" pitchFamily="34" charset="0"/>
              </a:rPr>
              <a:t>DevOps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954439A-614E-3FF7-22D9-EA4BE9F871BF}"/>
              </a:ext>
            </a:extLst>
          </p:cNvPr>
          <p:cNvSpPr txBox="1"/>
          <p:nvPr/>
        </p:nvSpPr>
        <p:spPr>
          <a:xfrm>
            <a:off x="7264400" y="2463800"/>
            <a:ext cx="1803400" cy="784830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Docker Compose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Jenkins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GitHub Actions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Terraform + Azure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73C8D9D-989E-F746-070B-A9512F0BBCE6}"/>
              </a:ext>
            </a:extLst>
          </p:cNvPr>
          <p:cNvSpPr/>
          <p:nvPr/>
        </p:nvSpPr>
        <p:spPr>
          <a:xfrm>
            <a:off x="9372600" y="1498600"/>
            <a:ext cx="2159000" cy="127000"/>
          </a:xfrm>
          <a:prstGeom prst="rect">
            <a:avLst/>
          </a:prstGeom>
          <a:solidFill>
            <a:srgbClr val="163CF2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B0AD511-5B72-A445-08BD-ABCCE7BFF07B}"/>
              </a:ext>
            </a:extLst>
          </p:cNvPr>
          <p:cNvSpPr/>
          <p:nvPr/>
        </p:nvSpPr>
        <p:spPr>
          <a:xfrm>
            <a:off x="9372600" y="1651000"/>
            <a:ext cx="215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6F43FB1-4E57-44D2-5B52-27045C56925D}"/>
              </a:ext>
            </a:extLst>
          </p:cNvPr>
          <p:cNvSpPr txBox="1"/>
          <p:nvPr/>
        </p:nvSpPr>
        <p:spPr>
          <a:xfrm>
            <a:off x="9550400" y="1879600"/>
            <a:ext cx="1803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0271D"/>
                </a:solidFill>
                <a:latin typeface="Aptos Display" panose="020B0004020202020204" pitchFamily="34" charset="0"/>
              </a:rPr>
              <a:t>Monitoreo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5860602-8BF4-B8F2-9B1A-0F418C0B280E}"/>
              </a:ext>
            </a:extLst>
          </p:cNvPr>
          <p:cNvSpPr txBox="1"/>
          <p:nvPr/>
        </p:nvSpPr>
        <p:spPr>
          <a:xfrm>
            <a:off x="9550400" y="2463800"/>
            <a:ext cx="1803400" cy="969496"/>
          </a:xfrm>
          <a:prstGeom prst="rect">
            <a:avLst/>
          </a:prstGeom>
          <a:noFill/>
        </p:spPr>
        <p:txBody>
          <a:bodyPr vert="horz" wrap="square" lIns="0" tIns="0" rIns="0" rtlCol="0">
            <a:spAutoFit/>
          </a:bodyPr>
          <a:lstStyle/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Grafana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Prometheus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Loki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Promtail</a:t>
            </a:r>
          </a:p>
          <a:p>
            <a:r>
              <a:rPr lang="es-MX" sz="1200">
                <a:solidFill>
                  <a:srgbClr val="60493B"/>
                </a:solidFill>
                <a:latin typeface="Aptos" panose="020B0004020202020204" pitchFamily="34" charset="0"/>
              </a:rPr>
              <a:t>cAdvisor</a:t>
            </a:r>
          </a:p>
        </p:txBody>
      </p:sp>
    </p:spTree>
    <p:extLst>
      <p:ext uri="{BB962C8B-B14F-4D97-AF65-F5344CB8AC3E}">
        <p14:creationId xmlns:p14="http://schemas.microsoft.com/office/powerpoint/2010/main" val="347850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D493A0-3089-A624-DC41-508330407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7C2402-9923-0DD6-A6C7-F88BE1483C4C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DE1874-EF25-5958-9E32-7718AA39EA70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1FD3F9-6464-74D9-82BF-AE569FF6DCB6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Observabilidad y Dashboards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A097E9-2168-C474-8241-465A36AEAC23}"/>
              </a:ext>
            </a:extLst>
          </p:cNvPr>
          <p:cNvSpPr txBox="1"/>
          <p:nvPr/>
        </p:nvSpPr>
        <p:spPr>
          <a:xfrm>
            <a:off x="9017000" y="215900"/>
            <a:ext cx="27178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EC" sz="1100">
                <a:solidFill>
                  <a:srgbClr val="E0F2FE"/>
                </a:solidFill>
                <a:latin typeface="Aptos" panose="020B0004020202020204" pitchFamily="34" charset="0"/>
              </a:rPr>
              <a:t>Evidencia visual de monitoreo y fuentes de datos</a:t>
            </a:r>
            <a:endParaRPr lang="es-MX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420CA9-7481-0426-62A2-93DCAC5294B1}"/>
              </a:ext>
            </a:extLst>
          </p:cNvPr>
          <p:cNvSpPr/>
          <p:nvPr/>
        </p:nvSpPr>
        <p:spPr>
          <a:xfrm>
            <a:off x="431800" y="1397000"/>
            <a:ext cx="5461000" cy="2184400"/>
          </a:xfrm>
          <a:prstGeom prst="rect">
            <a:avLst/>
          </a:prstGeom>
          <a:solidFill>
            <a:srgbClr val="FFF6EE"/>
          </a:solidFill>
          <a:ln w="12700">
            <a:solidFill>
              <a:srgbClr val="DBC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F11E57-CBCA-0416-748C-AC0565EA5863}"/>
              </a:ext>
            </a:extLst>
          </p:cNvPr>
          <p:cNvSpPr txBox="1"/>
          <p:nvPr/>
        </p:nvSpPr>
        <p:spPr>
          <a:xfrm>
            <a:off x="609600" y="1524000"/>
            <a:ext cx="2667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A3217"/>
                </a:solidFill>
                <a:latin typeface="Aptos Display" panose="020B0004020202020204" pitchFamily="34" charset="0"/>
              </a:rPr>
              <a:t>Grafana Overview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2DEC89B-AB4B-5D50-9B6E-42976A8B18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54200"/>
            <a:ext cx="5257800" cy="17272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AAFF376-C91A-7CCD-F777-B08510A5AC7A}"/>
              </a:ext>
            </a:extLst>
          </p:cNvPr>
          <p:cNvSpPr/>
          <p:nvPr/>
        </p:nvSpPr>
        <p:spPr>
          <a:xfrm>
            <a:off x="6146800" y="1397000"/>
            <a:ext cx="5461000" cy="2184400"/>
          </a:xfrm>
          <a:prstGeom prst="rect">
            <a:avLst/>
          </a:prstGeom>
          <a:solidFill>
            <a:srgbClr val="F5F8F3"/>
          </a:solidFill>
          <a:ln w="12700">
            <a:solidFill>
              <a:srgbClr val="CD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DD858D8-F4B7-6C61-BDB9-304E188B0168}"/>
              </a:ext>
            </a:extLst>
          </p:cNvPr>
          <p:cNvSpPr txBox="1"/>
          <p:nvPr/>
        </p:nvSpPr>
        <p:spPr>
          <a:xfrm>
            <a:off x="6324600" y="1524000"/>
            <a:ext cx="2667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2B3A24"/>
                </a:solidFill>
                <a:latin typeface="Aptos Display" panose="020B0004020202020204" pitchFamily="34" charset="0"/>
              </a:rPr>
              <a:t>Grafana Health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BA77FEB-00AD-4644-FDC2-6672218A97B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854200"/>
            <a:ext cx="5257800" cy="17272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8B027DF9-F050-701F-2234-2C06472DE8D9}"/>
              </a:ext>
            </a:extLst>
          </p:cNvPr>
          <p:cNvSpPr/>
          <p:nvPr/>
        </p:nvSpPr>
        <p:spPr>
          <a:xfrm>
            <a:off x="431800" y="3784600"/>
            <a:ext cx="11176000" cy="1879600"/>
          </a:xfrm>
          <a:prstGeom prst="rect">
            <a:avLst/>
          </a:prstGeom>
          <a:solidFill>
            <a:srgbClr val="EDF7FF"/>
          </a:solidFill>
          <a:ln w="12700">
            <a:solidFill>
              <a:srgbClr val="AFC3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5A27835-BA98-0601-D6BF-A51923EABAB4}"/>
              </a:ext>
            </a:extLst>
          </p:cNvPr>
          <p:cNvSpPr txBox="1"/>
          <p:nvPr/>
        </p:nvSpPr>
        <p:spPr>
          <a:xfrm>
            <a:off x="609600" y="3911600"/>
            <a:ext cx="317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33445A"/>
                </a:solidFill>
                <a:latin typeface="Aptos Display" panose="020B0004020202020204" pitchFamily="34" charset="0"/>
              </a:rPr>
              <a:t>Grafana Data Sources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E2F4B08-6D6E-BD9B-42E1-C0F7FCE05C8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241800"/>
            <a:ext cx="10795000" cy="14224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CD820204-ACDC-2533-120D-8A2AE2CF2667}"/>
              </a:ext>
            </a:extLst>
          </p:cNvPr>
          <p:cNvSpPr txBox="1"/>
          <p:nvPr/>
        </p:nvSpPr>
        <p:spPr>
          <a:xfrm>
            <a:off x="431800" y="5816600"/>
            <a:ext cx="11176000" cy="533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400">
                <a:solidFill>
                  <a:srgbClr val="4F3D2F"/>
                </a:solidFill>
                <a:latin typeface="Aptos" panose="020B0004020202020204" pitchFamily="34" charset="0"/>
              </a:rPr>
              <a:t>Estos dashboards evidencian la capa de observabilidad del proyecto. Grafana centraliza la consulta de metricas y logs usando Prometheus y Loki como fuentes de datos, permitiendo visualizar salud, errores, latencia y actividad del entorno.</a:t>
            </a:r>
            <a:endParaRPr lang="es-MX" sz="1400">
              <a:solidFill>
                <a:srgbClr val="4F3D2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3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64CDBC0-CD9E-1C9B-12A9-449B817FBC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D2195E-5595-43D9-AD79-FD17D5D6447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3BDB35-B56D-B5EB-432F-71A23D140B6C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17EA4C-E96D-7E63-8263-0E8E74EC1F7F}"/>
              </a:ext>
            </a:extLst>
          </p:cNvPr>
          <p:cNvSpPr txBox="1"/>
          <p:nvPr/>
        </p:nvSpPr>
        <p:spPr>
          <a:xfrm>
            <a:off x="533400" y="228600"/>
            <a:ext cx="533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Prometheus y Targets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A90F23-EB07-9614-D492-FE96E82C0B92}"/>
              </a:ext>
            </a:extLst>
          </p:cNvPr>
          <p:cNvSpPr txBox="1"/>
          <p:nvPr/>
        </p:nvSpPr>
        <p:spPr>
          <a:xfrm>
            <a:off x="8255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1200">
                <a:solidFill>
                  <a:srgbClr val="F7EEE7"/>
                </a:solidFill>
                <a:latin typeface="Aptos" panose="020B0004020202020204" pitchFamily="34" charset="0"/>
              </a:rPr>
              <a:t>Recoleccion de metricas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9E61AA-F5F8-683C-305A-3408FA8E18D1}"/>
              </a:ext>
            </a:extLst>
          </p:cNvPr>
          <p:cNvSpPr/>
          <p:nvPr/>
        </p:nvSpPr>
        <p:spPr>
          <a:xfrm>
            <a:off x="431800" y="1092200"/>
            <a:ext cx="7366000" cy="4267200"/>
          </a:xfrm>
          <a:prstGeom prst="rect">
            <a:avLst/>
          </a:prstGeom>
          <a:solidFill>
            <a:srgbClr val="FFF6EE"/>
          </a:solidFill>
          <a:ln w="12700">
            <a:solidFill>
              <a:srgbClr val="DBC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8C9904-8497-CBE5-38BC-31F445AC1414}"/>
              </a:ext>
            </a:extLst>
          </p:cNvPr>
          <p:cNvSpPr txBox="1"/>
          <p:nvPr/>
        </p:nvSpPr>
        <p:spPr>
          <a:xfrm>
            <a:off x="609600" y="1244600"/>
            <a:ext cx="279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600" b="1">
                <a:solidFill>
                  <a:srgbClr val="4A3217"/>
                </a:solidFill>
                <a:latin typeface="Aptos Display" panose="020B0004020202020204" pitchFamily="34" charset="0"/>
              </a:rPr>
              <a:t>Prometheus Targets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8030474-90CA-0522-8BB7-16FB96550E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98600"/>
            <a:ext cx="6959600" cy="36830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605242A-9F19-2D59-C3AD-4619CCB9D371}"/>
              </a:ext>
            </a:extLst>
          </p:cNvPr>
          <p:cNvSpPr/>
          <p:nvPr/>
        </p:nvSpPr>
        <p:spPr>
          <a:xfrm>
            <a:off x="7975600" y="1092200"/>
            <a:ext cx="3657600" cy="4267200"/>
          </a:xfrm>
          <a:prstGeom prst="rect">
            <a:avLst/>
          </a:prstGeom>
          <a:solidFill>
            <a:srgbClr val="EDF7FF"/>
          </a:solidFill>
          <a:ln w="12700">
            <a:solidFill>
              <a:srgbClr val="AFC3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C4748F-B761-A444-A92A-F482AE5889C2}"/>
              </a:ext>
            </a:extLst>
          </p:cNvPr>
          <p:cNvSpPr txBox="1"/>
          <p:nvPr/>
        </p:nvSpPr>
        <p:spPr>
          <a:xfrm>
            <a:off x="8204200" y="1270000"/>
            <a:ext cx="279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600" b="1">
                <a:solidFill>
                  <a:srgbClr val="33445A"/>
                </a:solidFill>
                <a:latin typeface="Aptos Display" panose="020B0004020202020204" pitchFamily="34" charset="0"/>
              </a:rPr>
              <a:t>Que muestra esta pantalla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D16038-E024-428F-1980-9365D9D5C0AE}"/>
              </a:ext>
            </a:extLst>
          </p:cNvPr>
          <p:cNvSpPr txBox="1"/>
          <p:nvPr/>
        </p:nvSpPr>
        <p:spPr>
          <a:xfrm>
            <a:off x="8204200" y="1676400"/>
            <a:ext cx="2844800" cy="3539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600">
                <a:solidFill>
                  <a:srgbClr val="33445A"/>
                </a:solidFill>
                <a:latin typeface="Aptos" panose="020B0004020202020204" pitchFamily="34" charset="0"/>
              </a:rPr>
              <a:t>• Prometheus consulta endpoints llamados targets.</a:t>
            </a:r>
          </a:p>
          <a:p>
            <a:r>
              <a:rPr lang="es-EC" sz="1600">
                <a:solidFill>
                  <a:srgbClr val="33445A"/>
                </a:solidFill>
                <a:latin typeface="Aptos" panose="020B0004020202020204" pitchFamily="34" charset="0"/>
              </a:rPr>
              <a:t>• En la captura se ve cAdvisor en estado UP.</a:t>
            </a:r>
          </a:p>
          <a:p>
            <a:r>
              <a:rPr lang="es-EC" sz="1600">
                <a:solidFill>
                  <a:srgbClr val="33445A"/>
                </a:solidFill>
                <a:latin typeface="Aptos" panose="020B0004020202020204" pitchFamily="34" charset="0"/>
              </a:rPr>
              <a:t>• Tambien se ve el backend monitoreado como ti-garantias-dev-backend.</a:t>
            </a:r>
          </a:p>
          <a:p>
            <a:r>
              <a:rPr lang="es-EC" sz="1600">
                <a:solidFill>
                  <a:srgbClr val="33445A"/>
                </a:solidFill>
                <a:latin typeface="Aptos" panose="020B0004020202020204" pitchFamily="34" charset="0"/>
              </a:rPr>
              <a:t>• Si el target responde, Prometheus puede recolectar metricas y Grafana luego las visualiza.</a:t>
            </a:r>
          </a:p>
          <a:p>
            <a:r>
              <a:rPr lang="es-EC" sz="1600">
                <a:solidFill>
                  <a:srgbClr val="33445A"/>
                </a:solidFill>
                <a:latin typeface="Aptos" panose="020B0004020202020204" pitchFamily="34" charset="0"/>
              </a:rPr>
              <a:t>• Esta pantalla sirve para validar que el monitoreo esta realmente conectado.</a:t>
            </a:r>
            <a:endParaRPr lang="es-MX" sz="1600">
              <a:solidFill>
                <a:srgbClr val="3344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C015689-9993-F573-B00F-4D1DA1BF56AC}"/>
              </a:ext>
            </a:extLst>
          </p:cNvPr>
          <p:cNvSpPr/>
          <p:nvPr/>
        </p:nvSpPr>
        <p:spPr>
          <a:xfrm>
            <a:off x="431800" y="5537200"/>
            <a:ext cx="11201400" cy="1092200"/>
          </a:xfrm>
          <a:prstGeom prst="rect">
            <a:avLst/>
          </a:prstGeom>
          <a:solidFill>
            <a:srgbClr val="F5F8F3"/>
          </a:solidFill>
          <a:ln w="12700">
            <a:solidFill>
              <a:srgbClr val="CD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2AD3A35-6BBA-8D97-0F66-2C2A9409CA65}"/>
              </a:ext>
            </a:extLst>
          </p:cNvPr>
          <p:cNvSpPr txBox="1"/>
          <p:nvPr/>
        </p:nvSpPr>
        <p:spPr>
          <a:xfrm>
            <a:off x="660400" y="5664200"/>
            <a:ext cx="2032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500" b="1">
                <a:solidFill>
                  <a:srgbClr val="2B3A24"/>
                </a:solidFill>
                <a:latin typeface="Aptos Display" panose="020B0004020202020204" pitchFamily="34" charset="0"/>
              </a:rPr>
              <a:t>Flujo de metricas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F92F478-A5C2-741F-BD28-F575ABA9932C}"/>
              </a:ext>
            </a:extLst>
          </p:cNvPr>
          <p:cNvSpPr txBox="1"/>
          <p:nvPr/>
        </p:nvSpPr>
        <p:spPr>
          <a:xfrm>
            <a:off x="2667000" y="5638800"/>
            <a:ext cx="863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500">
                <a:solidFill>
                  <a:srgbClr val="2C3527"/>
                </a:solidFill>
                <a:latin typeface="Aptos" panose="020B0004020202020204" pitchFamily="34" charset="0"/>
              </a:rPr>
              <a:t>Backend -&gt; /metrics -&gt; Prometheus -&gt; Grafana    |    cAdvisor -&gt; Prometheus -&gt; Grafana</a:t>
            </a:r>
          </a:p>
        </p:txBody>
      </p:sp>
    </p:spTree>
    <p:extLst>
      <p:ext uri="{BB962C8B-B14F-4D97-AF65-F5344CB8AC3E}">
        <p14:creationId xmlns:p14="http://schemas.microsoft.com/office/powerpoint/2010/main" val="228875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3C3FEEF-184B-1686-602F-A9318EA000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D93D2C-4E46-D832-F66C-6065DB8263A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1BA264-29E3-FAF2-BDC9-53842C81A87F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C325B5-E1CE-09F8-D93D-AFE4D60A8483}"/>
              </a:ext>
            </a:extLst>
          </p:cNvPr>
          <p:cNvSpPr txBox="1"/>
          <p:nvPr/>
        </p:nvSpPr>
        <p:spPr>
          <a:xfrm>
            <a:off x="533400" y="228600"/>
            <a:ext cx="533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2400" b="1">
                <a:solidFill>
                  <a:srgbClr val="FFFFFF"/>
                </a:solidFill>
                <a:latin typeface="Aptos Display" panose="020B0004020202020204" pitchFamily="34" charset="0"/>
              </a:rPr>
              <a:t>Stack de monitoreo en Docker</a:t>
            </a:r>
            <a:endParaRPr lang="es-MX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29DCF4D-8EC1-8621-89D1-76880F1AE727}"/>
              </a:ext>
            </a:extLst>
          </p:cNvPr>
          <p:cNvSpPr txBox="1"/>
          <p:nvPr/>
        </p:nvSpPr>
        <p:spPr>
          <a:xfrm>
            <a:off x="8255000" y="2286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C" sz="1200">
                <a:solidFill>
                  <a:srgbClr val="F7EEE7"/>
                </a:solidFill>
                <a:latin typeface="Aptos" panose="020B0004020202020204" pitchFamily="34" charset="0"/>
              </a:rPr>
              <a:t>Servicios levantados en la VM</a:t>
            </a:r>
            <a:endParaRPr lang="es-MX" sz="1200">
              <a:solidFill>
                <a:srgbClr val="F7EEE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9C1616E-487A-D8D6-8E21-E19949F489DB}"/>
              </a:ext>
            </a:extLst>
          </p:cNvPr>
          <p:cNvSpPr/>
          <p:nvPr/>
        </p:nvSpPr>
        <p:spPr>
          <a:xfrm>
            <a:off x="431800" y="1143000"/>
            <a:ext cx="7620000" cy="2794000"/>
          </a:xfrm>
          <a:prstGeom prst="rect">
            <a:avLst/>
          </a:prstGeom>
          <a:solidFill>
            <a:srgbClr val="FFF6EE"/>
          </a:solidFill>
          <a:ln w="12700">
            <a:solidFill>
              <a:srgbClr val="DBC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B7A1F1-C0A3-7F62-8484-B4C698B667B7}"/>
              </a:ext>
            </a:extLst>
          </p:cNvPr>
          <p:cNvSpPr txBox="1"/>
          <p:nvPr/>
        </p:nvSpPr>
        <p:spPr>
          <a:xfrm>
            <a:off x="635000" y="1295400"/>
            <a:ext cx="355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4A3217"/>
                </a:solidFill>
                <a:latin typeface="Aptos Display" panose="020B0004020202020204" pitchFamily="34" charset="0"/>
              </a:rPr>
              <a:t>docker ps en la VM compartida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F775CFF-F955-127F-EC90-794CA49CF1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676400"/>
            <a:ext cx="7315200" cy="13208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85418EE-B726-9B04-9E73-C9590F0EAE8C}"/>
              </a:ext>
            </a:extLst>
          </p:cNvPr>
          <p:cNvSpPr/>
          <p:nvPr/>
        </p:nvSpPr>
        <p:spPr>
          <a:xfrm>
            <a:off x="8255000" y="1143000"/>
            <a:ext cx="3378200" cy="2794000"/>
          </a:xfrm>
          <a:prstGeom prst="rect">
            <a:avLst/>
          </a:prstGeom>
          <a:solidFill>
            <a:srgbClr val="EDF7FF"/>
          </a:solidFill>
          <a:ln w="12700">
            <a:solidFill>
              <a:srgbClr val="AFC3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A5A3D28-825B-9EFD-BF81-87B5D966A20D}"/>
              </a:ext>
            </a:extLst>
          </p:cNvPr>
          <p:cNvSpPr txBox="1"/>
          <p:nvPr/>
        </p:nvSpPr>
        <p:spPr>
          <a:xfrm>
            <a:off x="8483600" y="1295400"/>
            <a:ext cx="2413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600" b="1">
                <a:solidFill>
                  <a:srgbClr val="33445A"/>
                </a:solidFill>
                <a:latin typeface="Aptos Display" panose="020B0004020202020204" pitchFamily="34" charset="0"/>
              </a:rPr>
              <a:t>Que evidencia esta captura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5B73AA-5684-23FC-981C-0D3096E5D168}"/>
              </a:ext>
            </a:extLst>
          </p:cNvPr>
          <p:cNvSpPr txBox="1"/>
          <p:nvPr/>
        </p:nvSpPr>
        <p:spPr>
          <a:xfrm>
            <a:off x="8483600" y="1828800"/>
            <a:ext cx="2794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C" sz="1300">
                <a:solidFill>
                  <a:srgbClr val="33445A"/>
                </a:solidFill>
                <a:latin typeface="Aptos" panose="020B0004020202020204" pitchFamily="34" charset="0"/>
              </a:rPr>
              <a:t>• Se observan contenedores activos de Grafana, Prometheus, Loki, Promtail y cAdvisor.</a:t>
            </a:r>
          </a:p>
          <a:p>
            <a:r>
              <a:rPr lang="es-EC" sz="1300">
                <a:solidFill>
                  <a:srgbClr val="33445A"/>
                </a:solidFill>
                <a:latin typeface="Aptos" panose="020B0004020202020204" pitchFamily="34" charset="0"/>
              </a:rPr>
              <a:t>• Esto confirma que el stack corre en la VM compartida.</a:t>
            </a:r>
          </a:p>
          <a:p>
            <a:r>
              <a:rPr lang="es-EC" sz="1300">
                <a:solidFill>
                  <a:srgbClr val="33445A"/>
                </a:solidFill>
                <a:latin typeface="Aptos" panose="020B0004020202020204" pitchFamily="34" charset="0"/>
              </a:rPr>
              <a:t>• Promtail envia logs a Loki y cAdvisor expone metricas a Prometheus.</a:t>
            </a:r>
          </a:p>
          <a:p>
            <a:r>
              <a:rPr lang="es-EC" sz="1300">
                <a:solidFill>
                  <a:srgbClr val="33445A"/>
                </a:solidFill>
                <a:latin typeface="Aptos" panose="020B0004020202020204" pitchFamily="34" charset="0"/>
              </a:rPr>
              <a:t>• Grafana consulta Prometheus y Loki para visualizar todo.</a:t>
            </a:r>
            <a:endParaRPr lang="es-MX" sz="1300">
              <a:solidFill>
                <a:srgbClr val="3344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6291DA-F2FC-3103-5018-DC95BDF934FC}"/>
              </a:ext>
            </a:extLst>
          </p:cNvPr>
          <p:cNvSpPr/>
          <p:nvPr/>
        </p:nvSpPr>
        <p:spPr>
          <a:xfrm>
            <a:off x="431800" y="4140200"/>
            <a:ext cx="11201400" cy="1498600"/>
          </a:xfrm>
          <a:prstGeom prst="rect">
            <a:avLst/>
          </a:prstGeom>
          <a:solidFill>
            <a:srgbClr val="F5F8F3"/>
          </a:solidFill>
          <a:ln w="12700">
            <a:solidFill>
              <a:srgbClr val="CD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7D3400-A253-D6BD-4C7E-FF34DBB6E044}"/>
              </a:ext>
            </a:extLst>
          </p:cNvPr>
          <p:cNvSpPr txBox="1"/>
          <p:nvPr/>
        </p:nvSpPr>
        <p:spPr>
          <a:xfrm>
            <a:off x="660400" y="43180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>
                <a:solidFill>
                  <a:srgbClr val="2B3A24"/>
                </a:solidFill>
                <a:latin typeface="Aptos Display" panose="020B0004020202020204" pitchFamily="34" charset="0"/>
              </a:rPr>
              <a:t>Como se comunican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14972E6-FC71-BE4B-45A4-A184FA3169D8}"/>
              </a:ext>
            </a:extLst>
          </p:cNvPr>
          <p:cNvSpPr txBox="1"/>
          <p:nvPr/>
        </p:nvSpPr>
        <p:spPr>
          <a:xfrm>
            <a:off x="660400" y="47244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600">
                <a:solidFill>
                  <a:srgbClr val="2C3527"/>
                </a:solidFill>
                <a:latin typeface="Aptos" panose="020B0004020202020204" pitchFamily="34" charset="0"/>
              </a:rPr>
              <a:t>Promtail -&gt; Loki para logs.  cAdvisor -&gt; Prometheus para metricas de contenedores.  Backend -&gt; /metrics -&gt; Prometheus.  Grafana -&gt; Prometheus y Loki para consultar y visualizar la informacion.</a:t>
            </a:r>
          </a:p>
        </p:txBody>
      </p:sp>
    </p:spTree>
    <p:extLst>
      <p:ext uri="{BB962C8B-B14F-4D97-AF65-F5344CB8AC3E}">
        <p14:creationId xmlns:p14="http://schemas.microsoft.com/office/powerpoint/2010/main" val="174383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AEAD440-1754-9AB9-B5B4-032360DFF3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41F232-9BBC-B4D4-D089-B4070D5A3424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89D922E-0086-13A2-66E2-E66F787ED2B9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BF24B6-3384-B1C2-12F9-556F7594F8E3}"/>
              </a:ext>
            </a:extLst>
          </p:cNvPr>
          <p:cNvSpPr txBox="1"/>
          <p:nvPr/>
        </p:nvSpPr>
        <p:spPr>
          <a:xfrm>
            <a:off x="533400" y="228600"/>
            <a:ext cx="533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Jenkins y entrega continua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0A9071-14FD-6B1A-C7E6-4DE35FBFD8F6}"/>
              </a:ext>
            </a:extLst>
          </p:cNvPr>
          <p:cNvSpPr txBox="1"/>
          <p:nvPr/>
        </p:nvSpPr>
        <p:spPr>
          <a:xfrm>
            <a:off x="8255000" y="228600"/>
            <a:ext cx="3175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1200">
                <a:solidFill>
                  <a:srgbClr val="F7EEE7"/>
                </a:solidFill>
                <a:latin typeface="Aptos" panose="020B0004020202020204" pitchFamily="34" charset="0"/>
              </a:rPr>
              <a:t>Pipeline y credenciales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42C8A8-2C85-612E-2315-E5885CCB21AC}"/>
              </a:ext>
            </a:extLst>
          </p:cNvPr>
          <p:cNvSpPr/>
          <p:nvPr/>
        </p:nvSpPr>
        <p:spPr>
          <a:xfrm>
            <a:off x="431800" y="1092200"/>
            <a:ext cx="7874000" cy="3632200"/>
          </a:xfrm>
          <a:prstGeom prst="rect">
            <a:avLst/>
          </a:prstGeom>
          <a:solidFill>
            <a:srgbClr val="FFF6EE"/>
          </a:solidFill>
          <a:ln w="12700">
            <a:solidFill>
              <a:srgbClr val="DBCA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17B70B-0BB5-7DB7-5790-C98EE29A3071}"/>
              </a:ext>
            </a:extLst>
          </p:cNvPr>
          <p:cNvSpPr txBox="1"/>
          <p:nvPr/>
        </p:nvSpPr>
        <p:spPr>
          <a:xfrm>
            <a:off x="635000" y="1092200"/>
            <a:ext cx="330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b="1" dirty="0" err="1">
                <a:solidFill>
                  <a:srgbClr val="4A3217"/>
                </a:solidFill>
                <a:latin typeface="Aptos Display" panose="020B0004020202020204" pitchFamily="34" charset="0"/>
              </a:rPr>
              <a:t>Stage</a:t>
            </a:r>
            <a:r>
              <a:rPr lang="es-MX" b="1" dirty="0">
                <a:solidFill>
                  <a:srgbClr val="4A3217"/>
                </a:solidFill>
                <a:latin typeface="Aptos Display" panose="020B0004020202020204" pitchFamily="34" charset="0"/>
              </a:rPr>
              <a:t> View del pipeline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6A68457-345F-B0FF-25E3-93F1620123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473200"/>
            <a:ext cx="7467600" cy="30480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BE4582B-F092-D275-E08C-731FC136AFC6}"/>
              </a:ext>
            </a:extLst>
          </p:cNvPr>
          <p:cNvSpPr/>
          <p:nvPr/>
        </p:nvSpPr>
        <p:spPr>
          <a:xfrm>
            <a:off x="8509000" y="1092200"/>
            <a:ext cx="3124200" cy="3632200"/>
          </a:xfrm>
          <a:prstGeom prst="rect">
            <a:avLst/>
          </a:prstGeom>
          <a:solidFill>
            <a:srgbClr val="EDF7FF"/>
          </a:solidFill>
          <a:ln w="12700">
            <a:solidFill>
              <a:srgbClr val="AFC3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97D498-7366-6A9A-CC6B-73712358B542}"/>
              </a:ext>
            </a:extLst>
          </p:cNvPr>
          <p:cNvSpPr txBox="1"/>
          <p:nvPr/>
        </p:nvSpPr>
        <p:spPr>
          <a:xfrm>
            <a:off x="8737600" y="1090136"/>
            <a:ext cx="2413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700" b="1" dirty="0">
                <a:solidFill>
                  <a:srgbClr val="33445A"/>
                </a:solidFill>
                <a:latin typeface="Aptos Display" panose="020B0004020202020204" pitchFamily="34" charset="0"/>
              </a:rPr>
              <a:t>Credenciales de Jenkins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3D8157F-5FA6-0096-5A22-32D4D1F406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473200"/>
            <a:ext cx="2717800" cy="3048000"/>
          </a:xfrm>
          <a:prstGeom prst="rect">
            <a:avLst/>
          </a:prstGeom>
          <a:ln w="10160">
            <a:solidFill>
              <a:schemeClr val="tx1"/>
            </a:solidFill>
          </a:ln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01788B9-78B0-9A1F-A881-3BDE4FC17B08}"/>
              </a:ext>
            </a:extLst>
          </p:cNvPr>
          <p:cNvSpPr/>
          <p:nvPr/>
        </p:nvSpPr>
        <p:spPr>
          <a:xfrm>
            <a:off x="431800" y="4851400"/>
            <a:ext cx="11201400" cy="1397000"/>
          </a:xfrm>
          <a:prstGeom prst="rect">
            <a:avLst/>
          </a:prstGeom>
          <a:solidFill>
            <a:srgbClr val="F5F8F3"/>
          </a:solidFill>
          <a:ln w="12700">
            <a:solidFill>
              <a:srgbClr val="CDD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27715A-2226-7A6E-3B52-9B30B1EDE33E}"/>
              </a:ext>
            </a:extLst>
          </p:cNvPr>
          <p:cNvSpPr txBox="1"/>
          <p:nvPr/>
        </p:nvSpPr>
        <p:spPr>
          <a:xfrm>
            <a:off x="660400" y="5003800"/>
            <a:ext cx="292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600" b="1">
                <a:solidFill>
                  <a:srgbClr val="2B3A24"/>
                </a:solidFill>
                <a:latin typeface="Aptos Display" panose="020B0004020202020204" pitchFamily="34" charset="0"/>
              </a:rPr>
              <a:t>Que evidencia esta diapositiva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7BF6780-4CBD-DDCB-449E-0BDB204AE59B}"/>
              </a:ext>
            </a:extLst>
          </p:cNvPr>
          <p:cNvSpPr txBox="1"/>
          <p:nvPr/>
        </p:nvSpPr>
        <p:spPr>
          <a:xfrm>
            <a:off x="660400" y="5511800"/>
            <a:ext cx="10668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2C3527"/>
                </a:solidFill>
                <a:latin typeface="Aptos" panose="020B0004020202020204" pitchFamily="34" charset="0"/>
              </a:rPr>
              <a:t>El Stage View muestra etapas automatizadas como checkout, validacion Terraform, pruebas backend, build frontend, push de imagenes y terraform plan/apply. La captura de credenciales evidencia que Jenkins se integraba con Azure, Docker Hub, GitHub y secretos por ambiente para ejecutar la entrega continua de forma segura.</a:t>
            </a:r>
          </a:p>
        </p:txBody>
      </p:sp>
    </p:spTree>
    <p:extLst>
      <p:ext uri="{BB962C8B-B14F-4D97-AF65-F5344CB8AC3E}">
        <p14:creationId xmlns:p14="http://schemas.microsoft.com/office/powerpoint/2010/main" val="424995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5D6105E-EDE3-A106-8E52-3EB7166459DD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endParaRPr lang="en-US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B0D6F0-949B-1AE6-791C-FC037ABE00FD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endParaRPr lang="en-US"/>
          </a:p>
        </p:txBody>
      </p:sp>
      <p:pic>
        <p:nvPicPr>
          <p:cNvPr id="8" name="CodexSVG_7">
            <a:extLst>
              <a:ext uri="{FF2B5EF4-FFF2-40B4-BE49-F238E27FC236}">
                <a16:creationId xmlns:a16="http://schemas.microsoft.com/office/drawing/2014/main" id="{8B8BC3D5-1EBB-DCE1-C54C-49147BB95E1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4238" y="990600"/>
            <a:ext cx="7963525" cy="5715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D508FEB-B872-792C-3C96-B5EC5970289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55C123-7953-1871-8204-C09E2F7676E3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2303CE-5D35-11FE-0A6A-03223A8C23AB}"/>
              </a:ext>
            </a:extLst>
          </p:cNvPr>
          <p:cNvSpPr txBox="1"/>
          <p:nvPr/>
        </p:nvSpPr>
        <p:spPr>
          <a:xfrm>
            <a:off x="533400" y="2032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Arquitectura Ejecutiva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AAAF58-E29A-C175-B99B-A9A538987CC7}"/>
              </a:ext>
            </a:extLst>
          </p:cNvPr>
          <p:cNvSpPr txBox="1"/>
          <p:nvPr/>
        </p:nvSpPr>
        <p:spPr>
          <a:xfrm>
            <a:off x="8128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C" sz="1200">
                <a:solidFill>
                  <a:srgbClr val="F7EEE7"/>
                </a:solidFill>
                <a:latin typeface="Aptos" panose="020B0004020202020204" pitchFamily="34" charset="0"/>
              </a:rPr>
              <a:t>Vista general de la solucion</a:t>
            </a:r>
            <a:endParaRPr lang="es-MX" sz="1200">
              <a:solidFill>
                <a:srgbClr val="F7EE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77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5238BE9-F028-272B-1909-5A971BB9EBDB}"/>
              </a:ext>
            </a:extLst>
          </p:cNvPr>
          <p:cNvSpPr txBox="1"/>
          <p:nvPr/>
        </p:nvSpPr>
        <p:spPr>
          <a:xfrm>
            <a:off x="482367" y="14628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endParaRPr lang="en-US" sz="2400" b="1" noProof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CodexSVG_8">
            <a:extLst>
              <a:ext uri="{FF2B5EF4-FFF2-40B4-BE49-F238E27FC236}">
                <a16:creationId xmlns:a16="http://schemas.microsoft.com/office/drawing/2014/main" id="{83EF7D1C-687E-1EFB-D2F1-1E675872DFA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85326" y="990600"/>
            <a:ext cx="6421348" cy="5715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AE1E8E3-B1D8-4120-E2B8-99519F3FCE8E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404D7D1-B28A-5257-51A1-0B276F299616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E95F09-9554-4EB4-030D-EC074443C126}"/>
              </a:ext>
            </a:extLst>
          </p:cNvPr>
          <p:cNvSpPr txBox="1"/>
          <p:nvPr/>
        </p:nvSpPr>
        <p:spPr>
          <a:xfrm>
            <a:off x="533400" y="2032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Arquitectura Tecnica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EB9084-5356-C58A-1D82-386C0E8E4F73}"/>
              </a:ext>
            </a:extLst>
          </p:cNvPr>
          <p:cNvSpPr txBox="1"/>
          <p:nvPr/>
        </p:nvSpPr>
        <p:spPr>
          <a:xfrm>
            <a:off x="8128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C" sz="1200">
                <a:solidFill>
                  <a:srgbClr val="F7EEE7"/>
                </a:solidFill>
                <a:latin typeface="Aptos" panose="020B0004020202020204" pitchFamily="34" charset="0"/>
              </a:rPr>
              <a:t>Detalle de componentes y flujos</a:t>
            </a:r>
            <a:endParaRPr lang="es-MX" sz="1200">
              <a:solidFill>
                <a:srgbClr val="F7EE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64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9534F0B-F51E-C9F3-8BC2-41E3059B86CC}"/>
              </a:ext>
            </a:extLst>
          </p:cNvPr>
          <p:cNvSpPr txBox="1"/>
          <p:nvPr/>
        </p:nvSpPr>
        <p:spPr>
          <a:xfrm>
            <a:off x="457200" y="140032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endParaRPr lang="en-US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CodexSVG_9">
            <a:extLst>
              <a:ext uri="{FF2B5EF4-FFF2-40B4-BE49-F238E27FC236}">
                <a16:creationId xmlns:a16="http://schemas.microsoft.com/office/drawing/2014/main" id="{B564CE16-D442-75F2-FA1E-9012DB082E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990600"/>
            <a:ext cx="6350000" cy="5715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5514AAA-ED06-3035-47BA-BCD55D1B967F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A731607-04F7-D9F9-09A4-2F30C8AED97A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DD3729-A848-026F-BA67-D2F2151DBC0C}"/>
              </a:ext>
            </a:extLst>
          </p:cNvPr>
          <p:cNvSpPr txBox="1"/>
          <p:nvPr/>
        </p:nvSpPr>
        <p:spPr>
          <a:xfrm>
            <a:off x="533400" y="2032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Inventario de Recursos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79F9A1-D9B3-4CF5-1D34-8E3CD5F64104}"/>
              </a:ext>
            </a:extLst>
          </p:cNvPr>
          <p:cNvSpPr txBox="1"/>
          <p:nvPr/>
        </p:nvSpPr>
        <p:spPr>
          <a:xfrm>
            <a:off x="8128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C" sz="1200">
                <a:solidFill>
                  <a:srgbClr val="F7EEE7"/>
                </a:solidFill>
                <a:latin typeface="Aptos" panose="020B0004020202020204" pitchFamily="34" charset="0"/>
              </a:rPr>
              <a:t>Resource Groups y servicios desplegados</a:t>
            </a:r>
            <a:endParaRPr lang="es-MX" sz="1200">
              <a:solidFill>
                <a:srgbClr val="F7EE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7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7519837-3EDC-8445-9E66-147390309D22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endParaRPr lang="en-US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DDDC1D-FD8B-4CBD-98B6-39610A8D1BB5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endParaRPr lang="en-US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pic>
        <p:nvPicPr>
          <p:cNvPr id="8" name="CodexSVG_10">
            <a:extLst>
              <a:ext uri="{FF2B5EF4-FFF2-40B4-BE49-F238E27FC236}">
                <a16:creationId xmlns:a16="http://schemas.microsoft.com/office/drawing/2014/main" id="{5373F746-411F-E04B-51EB-1BA8FF0D2CA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7000" y="990600"/>
            <a:ext cx="6858000" cy="5715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4AA583-7303-726D-C583-D519DB0E95E7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1BAEB8-0175-55CD-02E0-4384240FB65B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254250-6F90-8F58-FF51-48D353427C27}"/>
              </a:ext>
            </a:extLst>
          </p:cNvPr>
          <p:cNvSpPr txBox="1"/>
          <p:nvPr/>
        </p:nvSpPr>
        <p:spPr>
          <a:xfrm>
            <a:off x="533400" y="2032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Arquitectura Full Detail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9EA612D-87E3-ED82-A1F3-66AA4CA93CD7}"/>
              </a:ext>
            </a:extLst>
          </p:cNvPr>
          <p:cNvSpPr txBox="1"/>
          <p:nvPr/>
        </p:nvSpPr>
        <p:spPr>
          <a:xfrm>
            <a:off x="8128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1200">
                <a:solidFill>
                  <a:srgbClr val="F7EEE7"/>
                </a:solidFill>
                <a:latin typeface="Aptos" panose="020B0004020202020204" pitchFamily="34" charset="0"/>
              </a:rPr>
              <a:t>Operacion, seguridad y observabilidad</a:t>
            </a:r>
          </a:p>
        </p:txBody>
      </p:sp>
    </p:spTree>
    <p:extLst>
      <p:ext uri="{BB962C8B-B14F-4D97-AF65-F5344CB8AC3E}">
        <p14:creationId xmlns:p14="http://schemas.microsoft.com/office/powerpoint/2010/main" val="2342045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002D434-2768-1B29-6CEE-674E47B38182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endParaRPr lang="en-US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CodexSVG_11">
            <a:extLst>
              <a:ext uri="{FF2B5EF4-FFF2-40B4-BE49-F238E27FC236}">
                <a16:creationId xmlns:a16="http://schemas.microsoft.com/office/drawing/2014/main" id="{F44B9823-6CFD-9C4E-084D-99CBA92300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3794" y="990600"/>
            <a:ext cx="8404412" cy="5715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B9E8576-3437-21BE-2383-1A98F83D1F4D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33211A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A38DBF-A218-BF8D-79DB-6813B1C385C9}"/>
              </a:ext>
            </a:extLst>
          </p:cNvPr>
          <p:cNvSpPr/>
          <p:nvPr/>
        </p:nvSpPr>
        <p:spPr>
          <a:xfrm>
            <a:off x="0" y="635000"/>
            <a:ext cx="12192000" cy="50800"/>
          </a:xfrm>
          <a:prstGeom prst="rect">
            <a:avLst/>
          </a:prstGeom>
          <a:solidFill>
            <a:srgbClr val="F2D329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C43B3D8-8E47-1B37-DAD5-69762DB4B4C1}"/>
              </a:ext>
            </a:extLst>
          </p:cNvPr>
          <p:cNvSpPr txBox="1"/>
          <p:nvPr/>
        </p:nvSpPr>
        <p:spPr>
          <a:xfrm>
            <a:off x="533400" y="2032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 Display" panose="020B0004020202020204" pitchFamily="34" charset="0"/>
              </a:rPr>
              <a:t>Arquitectura C4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8A42C1-77A8-4048-B5FB-619613037EAD}"/>
              </a:ext>
            </a:extLst>
          </p:cNvPr>
          <p:cNvSpPr txBox="1"/>
          <p:nvPr/>
        </p:nvSpPr>
        <p:spPr>
          <a:xfrm>
            <a:off x="8128000" y="228600"/>
            <a:ext cx="330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1200">
                <a:solidFill>
                  <a:srgbClr val="F7EEE7"/>
                </a:solidFill>
                <a:latin typeface="Aptos" panose="020B0004020202020204" pitchFamily="34" charset="0"/>
              </a:rPr>
              <a:t>Contexto, contenedores y componentes</a:t>
            </a:r>
          </a:p>
        </p:txBody>
      </p:sp>
    </p:spTree>
    <p:extLst>
      <p:ext uri="{BB962C8B-B14F-4D97-AF65-F5344CB8AC3E}">
        <p14:creationId xmlns:p14="http://schemas.microsoft.com/office/powerpoint/2010/main" val="4070206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10837C-6558-37F1-166C-658FCFEDF1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2E7D23-AC7A-B8D4-F40C-0DB6CE5757AE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2AF463-FE37-18A9-647E-D05868E173BF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BCC71A-E110-9EF8-8270-557AABF93235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Pipeline CI/CD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4F441-1085-6072-233B-6F1A1B6D5BE5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Validacion continua + despliegue continuo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3B14137-412C-2D9B-6AAA-5B336EC3E94D}"/>
              </a:ext>
            </a:extLst>
          </p:cNvPr>
          <p:cNvSpPr/>
          <p:nvPr/>
        </p:nvSpPr>
        <p:spPr>
          <a:xfrm>
            <a:off x="558800" y="1524000"/>
            <a:ext cx="31750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B0D882-284A-6F4A-BA8F-DD8AD7275FE3}"/>
              </a:ext>
            </a:extLst>
          </p:cNvPr>
          <p:cNvSpPr txBox="1"/>
          <p:nvPr/>
        </p:nvSpPr>
        <p:spPr>
          <a:xfrm>
            <a:off x="965200" y="1879600"/>
            <a:ext cx="2286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0F172A"/>
                </a:solidFill>
                <a:latin typeface="Aptos Display" panose="020B0004020202020204" pitchFamily="34" charset="0"/>
              </a:rPr>
              <a:t>CI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25591A-5C2B-F84C-DB9E-D6BCB66114E3}"/>
              </a:ext>
            </a:extLst>
          </p:cNvPr>
          <p:cNvSpPr txBox="1"/>
          <p:nvPr/>
        </p:nvSpPr>
        <p:spPr>
          <a:xfrm>
            <a:off x="965200" y="2489200"/>
            <a:ext cx="2286000" cy="16722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sz="1700">
                <a:solidFill>
                  <a:srgbClr val="334155"/>
                </a:solidFill>
                <a:latin typeface="Aptos" panose="020B0004020202020204" pitchFamily="34" charset="0"/>
              </a:rPr>
              <a:t>- Checkout y validacion</a:t>
            </a:r>
          </a:p>
          <a:p>
            <a:r>
              <a:rPr lang="en-US" sz="1700">
                <a:solidFill>
                  <a:srgbClr val="334155"/>
                </a:solidFill>
                <a:latin typeface="Aptos" panose="020B0004020202020204" pitchFamily="34" charset="0"/>
              </a:rPr>
              <a:t>- Build y tests backend</a:t>
            </a:r>
          </a:p>
          <a:p>
            <a:r>
              <a:rPr lang="en-US" sz="1700">
                <a:solidFill>
                  <a:srgbClr val="334155"/>
                </a:solidFill>
                <a:latin typeface="Aptos" panose="020B0004020202020204" pitchFamily="34" charset="0"/>
              </a:rPr>
              <a:t>- Build frontend</a:t>
            </a:r>
          </a:p>
          <a:p>
            <a:r>
              <a:rPr lang="en-US" sz="1700">
                <a:solidFill>
                  <a:srgbClr val="334155"/>
                </a:solidFill>
                <a:latin typeface="Aptos" panose="020B0004020202020204" pitchFamily="34" charset="0"/>
              </a:rPr>
              <a:t>- Terraform fmt y validate</a:t>
            </a:r>
            <a:endParaRPr lang="es-MX" sz="17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C0CB7AD-9802-6265-6D3F-5D5D15E97F61}"/>
              </a:ext>
            </a:extLst>
          </p:cNvPr>
          <p:cNvSpPr/>
          <p:nvPr/>
        </p:nvSpPr>
        <p:spPr>
          <a:xfrm>
            <a:off x="8458200" y="1524000"/>
            <a:ext cx="3175000" cy="302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9145B1-20C5-9464-BF43-DF6AD537846B}"/>
              </a:ext>
            </a:extLst>
          </p:cNvPr>
          <p:cNvSpPr txBox="1"/>
          <p:nvPr/>
        </p:nvSpPr>
        <p:spPr>
          <a:xfrm>
            <a:off x="8864600" y="1879600"/>
            <a:ext cx="2286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0F172A"/>
                </a:solidFill>
                <a:latin typeface="Aptos Display" panose="020B0004020202020204" pitchFamily="34" charset="0"/>
              </a:rPr>
              <a:t>CD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F5BD32-6304-FF41-D004-5CBE034E4EBA}"/>
              </a:ext>
            </a:extLst>
          </p:cNvPr>
          <p:cNvSpPr txBox="1"/>
          <p:nvPr/>
        </p:nvSpPr>
        <p:spPr>
          <a:xfrm>
            <a:off x="8864600" y="2489200"/>
            <a:ext cx="2413000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>
                <a:solidFill>
                  <a:srgbClr val="334155"/>
                </a:solidFill>
                <a:latin typeface="Aptos" panose="020B0004020202020204" pitchFamily="34" charset="0"/>
              </a:rPr>
              <a:t>- Versionado inmutable</a:t>
            </a:r>
          </a:p>
          <a:p>
            <a:r>
              <a:rPr lang="es-EC" sz="1700">
                <a:solidFill>
                  <a:srgbClr val="334155"/>
                </a:solidFill>
                <a:latin typeface="Aptos" panose="020B0004020202020204" pitchFamily="34" charset="0"/>
              </a:rPr>
              <a:t>- Build y push de imagenes</a:t>
            </a:r>
          </a:p>
          <a:p>
            <a:r>
              <a:rPr lang="es-EC" sz="1700">
                <a:solidFill>
                  <a:srgbClr val="334155"/>
                </a:solidFill>
                <a:latin typeface="Aptos" panose="020B0004020202020204" pitchFamily="34" charset="0"/>
              </a:rPr>
              <a:t>- Key Vault y secretos</a:t>
            </a:r>
          </a:p>
          <a:p>
            <a:r>
              <a:rPr lang="es-EC" sz="1700">
                <a:solidFill>
                  <a:srgbClr val="334155"/>
                </a:solidFill>
                <a:latin typeface="Aptos" panose="020B0004020202020204" pitchFamily="34" charset="0"/>
              </a:rPr>
              <a:t>- Terraform plan y apply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3" name="CodexFlowBg">
            <a:extLst>
              <a:ext uri="{FF2B5EF4-FFF2-40B4-BE49-F238E27FC236}">
                <a16:creationId xmlns:a16="http://schemas.microsoft.com/office/drawing/2014/main" id="{E8416A1A-C888-BE3A-8C65-41CB74BA4B42}"/>
              </a:ext>
            </a:extLst>
          </p:cNvPr>
          <p:cNvSpPr/>
          <p:nvPr/>
        </p:nvSpPr>
        <p:spPr>
          <a:xfrm>
            <a:off x="4089400" y="1752600"/>
            <a:ext cx="4013200" cy="2590800"/>
          </a:xfrm>
          <a:prstGeom prst="rect">
            <a:avLst/>
          </a:prstGeom>
          <a:solidFill>
            <a:srgbClr val="EFEFEF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00370C-687A-8B58-E766-3A408BCACDED}"/>
              </a:ext>
            </a:extLst>
          </p:cNvPr>
          <p:cNvSpPr txBox="1"/>
          <p:nvPr/>
        </p:nvSpPr>
        <p:spPr>
          <a:xfrm>
            <a:off x="4495800" y="2006600"/>
            <a:ext cx="3175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2100" b="1">
                <a:solidFill>
                  <a:srgbClr val="333333"/>
                </a:solidFill>
                <a:latin typeface="Aptos Display" panose="020B0004020202020204" pitchFamily="34" charset="0"/>
              </a:rPr>
              <a:t>Flujo resumido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7F1B6CF-2557-0D4A-C332-0B2B96E30DDF}"/>
              </a:ext>
            </a:extLst>
          </p:cNvPr>
          <p:cNvSpPr/>
          <p:nvPr/>
        </p:nvSpPr>
        <p:spPr>
          <a:xfrm>
            <a:off x="4343400" y="2641600"/>
            <a:ext cx="939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 err="1">
                <a:solidFill>
                  <a:srgbClr val="333333"/>
                </a:solidFill>
                <a:latin typeface="Aptos" panose="020B0004020202020204" pitchFamily="34" charset="0"/>
              </a:rPr>
              <a:t>Commit</a:t>
            </a:r>
            <a:endParaRPr lang="es-MX" sz="1400" b="1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3952E39D-48C4-A4D2-03D1-1DD285AE7F53}"/>
              </a:ext>
            </a:extLst>
          </p:cNvPr>
          <p:cNvSpPr/>
          <p:nvPr/>
        </p:nvSpPr>
        <p:spPr>
          <a:xfrm>
            <a:off x="5359400" y="2768600"/>
            <a:ext cx="330200" cy="20320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75DEDDA-A66E-2506-2634-633F8AC0F8C7}"/>
              </a:ext>
            </a:extLst>
          </p:cNvPr>
          <p:cNvSpPr/>
          <p:nvPr/>
        </p:nvSpPr>
        <p:spPr>
          <a:xfrm>
            <a:off x="5765800" y="2641600"/>
            <a:ext cx="9906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333333"/>
                </a:solidFill>
                <a:latin typeface="Aptos" panose="020B0004020202020204" pitchFamily="34" charset="0"/>
              </a:rPr>
              <a:t>Actions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ABFA4D9F-FABB-78FF-810F-E900355EA04A}"/>
              </a:ext>
            </a:extLst>
          </p:cNvPr>
          <p:cNvSpPr/>
          <p:nvPr/>
        </p:nvSpPr>
        <p:spPr>
          <a:xfrm>
            <a:off x="6832600" y="2768600"/>
            <a:ext cx="330200" cy="20320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D1D81F0-F114-26FC-A50D-BD9076AC0E55}"/>
              </a:ext>
            </a:extLst>
          </p:cNvPr>
          <p:cNvSpPr/>
          <p:nvPr/>
        </p:nvSpPr>
        <p:spPr>
          <a:xfrm>
            <a:off x="7239000" y="2641600"/>
            <a:ext cx="812800" cy="48260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333333"/>
                </a:solidFill>
                <a:latin typeface="Aptos" panose="020B0004020202020204" pitchFamily="34" charset="0"/>
              </a:rPr>
              <a:t>Jenkins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9B884A6-9AB9-E85F-9DC4-9689D413D0BA}"/>
              </a:ext>
            </a:extLst>
          </p:cNvPr>
          <p:cNvSpPr/>
          <p:nvPr/>
        </p:nvSpPr>
        <p:spPr>
          <a:xfrm>
            <a:off x="5130800" y="3479800"/>
            <a:ext cx="304800" cy="17780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0470145-09AE-5DE8-5184-783F9775D3E7}"/>
              </a:ext>
            </a:extLst>
          </p:cNvPr>
          <p:cNvSpPr/>
          <p:nvPr/>
        </p:nvSpPr>
        <p:spPr>
          <a:xfrm>
            <a:off x="5511800" y="3352800"/>
            <a:ext cx="863600" cy="431800"/>
          </a:xfrm>
          <a:prstGeom prst="roundRect">
            <a:avLst/>
          </a:prstGeom>
          <a:solidFill>
            <a:srgbClr val="FFFFF5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333333"/>
                </a:solidFill>
                <a:latin typeface="Aptos" panose="020B0004020202020204" pitchFamily="34" charset="0"/>
              </a:rPr>
              <a:t>Docker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22BD8D87-B642-B707-07BD-610E013BCF75}"/>
              </a:ext>
            </a:extLst>
          </p:cNvPr>
          <p:cNvSpPr/>
          <p:nvPr/>
        </p:nvSpPr>
        <p:spPr>
          <a:xfrm>
            <a:off x="6477000" y="3479800"/>
            <a:ext cx="304800" cy="177800"/>
          </a:xfrm>
          <a:prstGeom prst="rightArrow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BF00B09-1F6B-AF39-7341-09078BED79B4}"/>
              </a:ext>
            </a:extLst>
          </p:cNvPr>
          <p:cNvSpPr/>
          <p:nvPr/>
        </p:nvSpPr>
        <p:spPr>
          <a:xfrm>
            <a:off x="6858000" y="3352800"/>
            <a:ext cx="762000" cy="431800"/>
          </a:xfrm>
          <a:prstGeom prst="roundRect">
            <a:avLst/>
          </a:prstGeom>
          <a:solidFill>
            <a:srgbClr val="FFFFF5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>
                <a:solidFill>
                  <a:srgbClr val="333333"/>
                </a:solidFill>
                <a:latin typeface="Aptos" panose="020B0004020202020204" pitchFamily="34" charset="0"/>
              </a:rPr>
              <a:t>Azure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B4C1751-612F-1A08-07BE-8266899913BC}"/>
              </a:ext>
            </a:extLst>
          </p:cNvPr>
          <p:cNvSpPr txBox="1"/>
          <p:nvPr/>
        </p:nvSpPr>
        <p:spPr>
          <a:xfrm>
            <a:off x="4445000" y="3962400"/>
            <a:ext cx="330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C" sz="1300">
                <a:solidFill>
                  <a:srgbClr val="444444"/>
                </a:solidFill>
                <a:latin typeface="Aptos" panose="020B0004020202020204" pitchFamily="34" charset="0"/>
              </a:rPr>
              <a:t>CI valida cambios; CD construye y despliega.</a:t>
            </a:r>
            <a:endParaRPr lang="es-MX" sz="1300">
              <a:solidFill>
                <a:srgbClr val="444444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617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0DCDC8A-D91F-8E75-EA70-498E270D43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B9C7A0-49B6-5774-ACA4-87433FA32E3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66F0A5-9E69-BC68-3E4D-C7E0BDDE2D0C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9DD569-2A1B-26EE-A37D-404DCA1843AA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Incidencias Reales y Aprendizajes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6EA6B5-16F2-1689-6334-C9A72809C0C7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EC" sz="1100">
                <a:solidFill>
                  <a:srgbClr val="E0F2FE"/>
                </a:solidFill>
                <a:latin typeface="Aptos" panose="020B0004020202020204" pitchFamily="34" charset="0"/>
              </a:rPr>
              <a:t>Lo que se ajusto durante el despliegue</a:t>
            </a:r>
            <a:endParaRPr lang="es-MX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149F4E-A84E-6AAF-1A1C-2DE00EA191CC}"/>
              </a:ext>
            </a:extLst>
          </p:cNvPr>
          <p:cNvSpPr txBox="1"/>
          <p:nvPr/>
        </p:nvSpPr>
        <p:spPr>
          <a:xfrm>
            <a:off x="939800" y="1320800"/>
            <a:ext cx="10414000" cy="259558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Capacidad y cuota: Standard_B2s no disponible inicialmente en East US; se homologaron ambientes 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centralus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Arquitectura de VM: se descarto SKU Arm64 por incompatibilidad con el escenario</a:t>
            </a: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PostgreSQL: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restriccion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regional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LocationIsOfferRestricted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en la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suscripcion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RBAC: Jenkins necesitaba permisos para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roleAssignments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/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write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sobre Key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Vault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Providers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: registro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Microsoft.App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Microsoft.OperationalInsights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Pipeline: ajuste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ansicolor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, secretos,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Terraform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quality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y verbosidad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dotnet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publish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Frontend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: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correccion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del proxy para reenviar Host hacia el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backend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interno</a:t>
            </a:r>
            <a:b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</a:b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Register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Imágenes Docker Hub Personal</a:t>
            </a:r>
          </a:p>
        </p:txBody>
      </p:sp>
    </p:spTree>
    <p:extLst>
      <p:ext uri="{BB962C8B-B14F-4D97-AF65-F5344CB8AC3E}">
        <p14:creationId xmlns:p14="http://schemas.microsoft.com/office/powerpoint/2010/main" val="16344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7FCFC75-D9D6-F9F4-FCAE-84530DD847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97CBDC-B4FD-155F-A411-2CE7B8598E6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BB732-2255-0763-F0EF-329E90C4C5E7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58CBDE-4C17-4590-AD1F-F094AFC54568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Resultados Obtenidos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417B38-0EE2-6A82-62D0-2AA817C3D1BF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Valor entregado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D173FD3-F892-9B63-55E8-992FD502FCC8}"/>
              </a:ext>
            </a:extLst>
          </p:cNvPr>
          <p:cNvSpPr/>
          <p:nvPr/>
        </p:nvSpPr>
        <p:spPr>
          <a:xfrm>
            <a:off x="71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9BEC30-7BCE-3D36-95C5-13DAD3ABCE50}"/>
              </a:ext>
            </a:extLst>
          </p:cNvPr>
          <p:cNvSpPr/>
          <p:nvPr/>
        </p:nvSpPr>
        <p:spPr>
          <a:xfrm>
            <a:off x="711200" y="1320800"/>
            <a:ext cx="88900" cy="1168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EBFB9F-32C4-F70E-BDB9-D0ED4475D443}"/>
              </a:ext>
            </a:extLst>
          </p:cNvPr>
          <p:cNvSpPr txBox="1"/>
          <p:nvPr/>
        </p:nvSpPr>
        <p:spPr>
          <a:xfrm>
            <a:off x="93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2563EB"/>
                </a:solidFill>
                <a:latin typeface="Aptos" panose="020B0004020202020204" pitchFamily="34" charset="0"/>
              </a:rPr>
              <a:t>IaC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4D45-1DE2-24B7-82C2-33F6B7AA68E5}"/>
              </a:ext>
            </a:extLst>
          </p:cNvPr>
          <p:cNvSpPr txBox="1"/>
          <p:nvPr/>
        </p:nvSpPr>
        <p:spPr>
          <a:xfrm>
            <a:off x="93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>
                <a:solidFill>
                  <a:srgbClr val="64748B"/>
                </a:solidFill>
                <a:latin typeface="Aptos" panose="020B0004020202020204" pitchFamily="34" charset="0"/>
              </a:rPr>
              <a:t>Infraestructura versionada, reproducible y multiambiente</a:t>
            </a:r>
            <a:endParaRPr lang="es-MX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07F096F-DB9A-B84C-AB0B-74E43F23CEFD}"/>
              </a:ext>
            </a:extLst>
          </p:cNvPr>
          <p:cNvSpPr/>
          <p:nvPr/>
        </p:nvSpPr>
        <p:spPr>
          <a:xfrm>
            <a:off x="452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E1251A8-AF1B-5949-4AEC-F700DC3F12BA}"/>
              </a:ext>
            </a:extLst>
          </p:cNvPr>
          <p:cNvSpPr/>
          <p:nvPr/>
        </p:nvSpPr>
        <p:spPr>
          <a:xfrm>
            <a:off x="4521200" y="1320800"/>
            <a:ext cx="88900" cy="1168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878B06-C45A-E418-9D84-1878B3157299}"/>
              </a:ext>
            </a:extLst>
          </p:cNvPr>
          <p:cNvSpPr txBox="1"/>
          <p:nvPr/>
        </p:nvSpPr>
        <p:spPr>
          <a:xfrm>
            <a:off x="474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06B6D4"/>
                </a:solidFill>
                <a:latin typeface="Aptos" panose="020B0004020202020204" pitchFamily="34" charset="0"/>
              </a:rPr>
              <a:t>CI/CD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227784-0336-632D-5325-34F40551F4E0}"/>
              </a:ext>
            </a:extLst>
          </p:cNvPr>
          <p:cNvSpPr txBox="1"/>
          <p:nvPr/>
        </p:nvSpPr>
        <p:spPr>
          <a:xfrm>
            <a:off x="474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 dirty="0">
                <a:solidFill>
                  <a:srgbClr val="64748B"/>
                </a:solidFill>
                <a:latin typeface="Aptos" panose="020B0004020202020204" pitchFamily="34" charset="0"/>
              </a:rPr>
              <a:t>Build, pruebas, </a:t>
            </a:r>
            <a:r>
              <a:rPr lang="es-EC" sz="1100" dirty="0" err="1">
                <a:solidFill>
                  <a:srgbClr val="64748B"/>
                </a:solidFill>
                <a:latin typeface="Aptos" panose="020B0004020202020204" pitchFamily="34" charset="0"/>
              </a:rPr>
              <a:t>imagenes</a:t>
            </a:r>
            <a:r>
              <a:rPr lang="es-EC" sz="1100" dirty="0">
                <a:solidFill>
                  <a:srgbClr val="64748B"/>
                </a:solidFill>
                <a:latin typeface="Aptos" panose="020B0004020202020204" pitchFamily="34" charset="0"/>
              </a:rPr>
              <a:t> y despliegue automatizado</a:t>
            </a:r>
            <a:endParaRPr lang="es-MX" sz="110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DCBAE0D-5FD5-6971-7E14-B8A93EEE19D6}"/>
              </a:ext>
            </a:extLst>
          </p:cNvPr>
          <p:cNvSpPr/>
          <p:nvPr/>
        </p:nvSpPr>
        <p:spPr>
          <a:xfrm>
            <a:off x="833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C21235-47AB-317B-F90B-8073E07E5EAA}"/>
              </a:ext>
            </a:extLst>
          </p:cNvPr>
          <p:cNvSpPr/>
          <p:nvPr/>
        </p:nvSpPr>
        <p:spPr>
          <a:xfrm>
            <a:off x="8331200" y="1320800"/>
            <a:ext cx="88900" cy="1168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A6342F8-4FEE-5A93-EB7E-93388B11F5BD}"/>
              </a:ext>
            </a:extLst>
          </p:cNvPr>
          <p:cNvSpPr txBox="1"/>
          <p:nvPr/>
        </p:nvSpPr>
        <p:spPr>
          <a:xfrm>
            <a:off x="855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22C55E"/>
                </a:solidFill>
                <a:latin typeface="Aptos" panose="020B0004020202020204" pitchFamily="34" charset="0"/>
              </a:rPr>
              <a:t>Ops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FFD42B-B258-A364-CD2D-3950C3EBA2F3}"/>
              </a:ext>
            </a:extLst>
          </p:cNvPr>
          <p:cNvSpPr txBox="1"/>
          <p:nvPr/>
        </p:nvSpPr>
        <p:spPr>
          <a:xfrm>
            <a:off x="855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>
                <a:solidFill>
                  <a:srgbClr val="64748B"/>
                </a:solidFill>
                <a:latin typeface="Aptos" panose="020B0004020202020204" pitchFamily="34" charset="0"/>
              </a:rPr>
              <a:t>Monitoreo, salud, logs y secretos centralizados</a:t>
            </a:r>
            <a:endParaRPr lang="es-MX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716AD2A-FD2A-8FC2-C8D0-112E11FC6366}"/>
              </a:ext>
            </a:extLst>
          </p:cNvPr>
          <p:cNvSpPr txBox="1"/>
          <p:nvPr/>
        </p:nvSpPr>
        <p:spPr>
          <a:xfrm>
            <a:off x="1219200" y="3175000"/>
            <a:ext cx="9652000" cy="164147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Ambiente dev desplegado y operativo en Azure Container Apps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Aplicacion empaquetada en contenedores backend/frontend con tags inmutables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Backend no expuesto publicamente: acceso por proxy desde frontend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Adjuntos fuera de la base de datos y persistentes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Documentacion tecnica, diagramas de arquitectura e informe final disponibles</a:t>
            </a:r>
            <a:endParaRPr lang="es-MX" sz="20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09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B1F5A2F-A5B0-79C8-6D87-58DFC91A24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84B6B5-84F8-533B-3FF7-16A58F6AB81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E28BBC-8CCA-819E-9336-39EAB9F65112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FF0B55-5780-63EC-F834-B3854032064F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Recomendaciones y Proximos Pasos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5688EF-F16E-30C8-90AD-7875AD3BC27C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Evolucion del piloto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B88C21A-5C97-9D61-D861-3B4F09C9F139}"/>
              </a:ext>
            </a:extLst>
          </p:cNvPr>
          <p:cNvSpPr/>
          <p:nvPr/>
        </p:nvSpPr>
        <p:spPr>
          <a:xfrm>
            <a:off x="736600" y="1371600"/>
            <a:ext cx="50292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3BC738-9EFA-3859-A818-D30CE557F77B}"/>
              </a:ext>
            </a:extLst>
          </p:cNvPr>
          <p:cNvSpPr txBox="1"/>
          <p:nvPr/>
        </p:nvSpPr>
        <p:spPr>
          <a:xfrm>
            <a:off x="1092200" y="17018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Tecnico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93335E-921E-08EC-A22D-2BED66D064C9}"/>
              </a:ext>
            </a:extLst>
          </p:cNvPr>
          <p:cNvSpPr txBox="1"/>
          <p:nvPr/>
        </p:nvSpPr>
        <p:spPr>
          <a:xfrm>
            <a:off x="1117600" y="2336800"/>
            <a:ext cx="4301688" cy="256480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Completar promoción controlada a test y producción 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Formalizar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backups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restore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de PostgreSQL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Agregar escaneo de imágenes y dependencias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Definir alertas SLO para disponibilidad y errores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-Endurecer red, políticas y secretos para producción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Implementar validación con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Sonarqube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Veracode</a:t>
            </a:r>
            <a:endParaRPr lang="es-MX" sz="16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ECC93E-12A0-8A16-155A-5F8A3DE3049C}"/>
              </a:ext>
            </a:extLst>
          </p:cNvPr>
          <p:cNvSpPr/>
          <p:nvPr/>
        </p:nvSpPr>
        <p:spPr>
          <a:xfrm>
            <a:off x="6502400" y="1360924"/>
            <a:ext cx="50292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550B41-7FD5-4508-D639-1B82A37E480A}"/>
              </a:ext>
            </a:extLst>
          </p:cNvPr>
          <p:cNvSpPr txBox="1"/>
          <p:nvPr/>
        </p:nvSpPr>
        <p:spPr>
          <a:xfrm>
            <a:off x="6781800" y="17018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Gestion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554233-0001-FBE1-4967-CF5770F01C03}"/>
              </a:ext>
            </a:extLst>
          </p:cNvPr>
          <p:cNvSpPr txBox="1"/>
          <p:nvPr/>
        </p:nvSpPr>
        <p:spPr>
          <a:xfrm>
            <a:off x="6807200" y="2336800"/>
            <a:ext cx="3937000" cy="18261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Completar datos reales de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sprints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metricas</a:t>
            </a:r>
            <a:endParaRPr lang="es-EC" sz="16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Documentar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runbooks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de incidentes y despliegue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Preparar evidencia para auditoria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Planificar mejoras de UX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segun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retroalimentacion</a:t>
            </a:r>
            <a:endParaRPr lang="es-MX" sz="16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55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95B1E05-D5DB-936A-7363-5F5D197E11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DAE9B2-5CC8-024B-5E43-5A8D94A654A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DA93F6-3B6D-D2A2-381D-6A83A3CDE053}"/>
              </a:ext>
            </a:extLst>
          </p:cNvPr>
          <p:cNvSpPr txBox="1"/>
          <p:nvPr/>
        </p:nvSpPr>
        <p:spPr>
          <a:xfrm>
            <a:off x="1168400" y="1600200"/>
            <a:ext cx="9652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MX" sz="4000" b="1">
                <a:solidFill>
                  <a:srgbClr val="FFFFFF"/>
                </a:solidFill>
                <a:latin typeface="Aptos" panose="020B0004020202020204" pitchFamily="34" charset="0"/>
              </a:rPr>
              <a:t>Cierre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907F56-DACD-2F77-B71D-A24A5A9518D9}"/>
              </a:ext>
            </a:extLst>
          </p:cNvPr>
          <p:cNvSpPr txBox="1"/>
          <p:nvPr/>
        </p:nvSpPr>
        <p:spPr>
          <a:xfrm>
            <a:off x="1651000" y="2794000"/>
            <a:ext cx="8890000" cy="125675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EC" sz="2500">
                <a:solidFill>
                  <a:srgbClr val="E0F2FE"/>
                </a:solidFill>
                <a:latin typeface="Aptos" panose="020B0004020202020204" pitchFamily="34" charset="0"/>
              </a:rPr>
              <a:t>El proyecto demuestra una cadena DevOps integral: backlog priorizado, aplicacion funcional, infraestructura como codigo, CI/CD multiambiente y observabilidad operativa en Azure.</a:t>
            </a:r>
            <a:endParaRPr lang="es-MX" sz="25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EA4BD1-DC81-7962-8AD3-F8AA58A7B1B8}"/>
              </a:ext>
            </a:extLst>
          </p:cNvPr>
          <p:cNvSpPr txBox="1"/>
          <p:nvPr/>
        </p:nvSpPr>
        <p:spPr>
          <a:xfrm>
            <a:off x="4318000" y="4953000"/>
            <a:ext cx="3556000" cy="53347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MX" sz="2800" b="1">
                <a:solidFill>
                  <a:srgbClr val="FFFFFF"/>
                </a:solidFill>
                <a:latin typeface="Aptos" panose="020B000402020202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16322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129</TotalTime>
  <Words>1056</Words>
  <Application>Microsoft Office PowerPoint</Application>
  <PresentationFormat>Panorámica</PresentationFormat>
  <Paragraphs>160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armando chavez</dc:creator>
  <cp:lastModifiedBy>armando chavez</cp:lastModifiedBy>
  <cp:revision>29</cp:revision>
  <dcterms:created xsi:type="dcterms:W3CDTF">2026-04-08T01:25:16Z</dcterms:created>
  <dcterms:modified xsi:type="dcterms:W3CDTF">2026-04-15T04:24:39Z</dcterms:modified>
</cp:coreProperties>
</file>