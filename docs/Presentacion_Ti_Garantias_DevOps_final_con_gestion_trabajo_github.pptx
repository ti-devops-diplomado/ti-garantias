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8"/>
  </p:notesMasterIdLst>
  <p:sldIdLst>
    <p:sldId id="256" r:id="rId2"/>
    <p:sldId id="258" r:id="rId3"/>
    <p:sldId id="273" r:id="rId4"/>
    <p:sldId id="272" r:id="rId5"/>
    <p:sldId id="260" r:id="rId6"/>
    <p:sldId id="261" r:id="rId7"/>
    <p:sldId id="262" r:id="rId8"/>
    <p:sldId id="263" r:id="rId9"/>
    <p:sldId id="264" r:id="rId10"/>
    <p:sldId id="266" r:id="rId11"/>
    <p:sldId id="269" r:id="rId12"/>
    <p:sldId id="265" r:id="rId13"/>
    <p:sldId id="267" r:id="rId14"/>
    <p:sldId id="268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708" autoAdjust="0"/>
  </p:normalViewPr>
  <p:slideViewPr>
    <p:cSldViewPr snapToGrid="0" showGuides="1">
      <p:cViewPr varScale="1">
        <p:scale>
          <a:sx n="114" d="100"/>
          <a:sy n="114" d="100"/>
        </p:scale>
        <p:origin x="3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32D13-FF59-4809-A92A-AFAC17D8C0DC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49D93-4FDE-4777-8A7C-8DF4719709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661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49D93-4FDE-4777-8A7C-8DF4719709A3}" type="slidenum">
              <a:rPr lang="es-MX" smtClean="0"/>
              <a:t>16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2327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01713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91292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35653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70600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17396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00708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64578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90135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67981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5574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57872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8122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748471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481872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17734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316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81693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09A7A65-997B-42A6-B092-B1775680AF95}" type="datetimeFigureOut">
              <a:rPr lang="es-MX" smtClean="0"/>
              <a:t>14/04/2026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42C6AB-B300-4C61-9D8E-D1FE4E8D694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301326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8B76E31-203E-D67A-A99E-CC004B70CE7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5CC6FA-8371-2260-B5FD-A0075F9EE112}"/>
              </a:ext>
            </a:extLst>
          </p:cNvPr>
          <p:cNvSpPr/>
          <p:nvPr/>
        </p:nvSpPr>
        <p:spPr>
          <a:xfrm>
            <a:off x="0" y="4978400"/>
            <a:ext cx="12192000" cy="18796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7374087-FB8A-9131-6DD3-40C6B5050BAC}"/>
              </a:ext>
            </a:extLst>
          </p:cNvPr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07B3A30-EE52-2C2D-F7E7-CDCCC6E02E75}"/>
              </a:ext>
            </a:extLst>
          </p:cNvPr>
          <p:cNvSpPr txBox="1"/>
          <p:nvPr/>
        </p:nvSpPr>
        <p:spPr>
          <a:xfrm>
            <a:off x="889000" y="1219200"/>
            <a:ext cx="9906000" cy="77970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4400" b="1">
                <a:solidFill>
                  <a:srgbClr val="FFFFFF"/>
                </a:solidFill>
                <a:latin typeface="Aptos" panose="020B0004020202020204" pitchFamily="34" charset="0"/>
              </a:rPr>
              <a:t>TI Garantias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469551A-21F3-E0B3-BE6C-2D734715B4CD}"/>
              </a:ext>
            </a:extLst>
          </p:cNvPr>
          <p:cNvSpPr txBox="1"/>
          <p:nvPr/>
        </p:nvSpPr>
        <p:spPr>
          <a:xfrm>
            <a:off x="914400" y="2209800"/>
            <a:ext cx="9779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>
                <a:solidFill>
                  <a:srgbClr val="E0F2FE"/>
                </a:solidFill>
                <a:latin typeface="Aptos" panose="020B0004020202020204" pitchFamily="34" charset="0"/>
              </a:rPr>
              <a:t>Portal Interno de Garantias, Retenciones y Devolucion de TI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53F3371-50B2-B80D-57FB-87C2B932F138}"/>
              </a:ext>
            </a:extLst>
          </p:cNvPr>
          <p:cNvSpPr txBox="1"/>
          <p:nvPr/>
        </p:nvSpPr>
        <p:spPr>
          <a:xfrm>
            <a:off x="914400" y="3175000"/>
            <a:ext cx="6604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000" b="1">
                <a:solidFill>
                  <a:srgbClr val="FFFFFF"/>
                </a:solidFill>
                <a:latin typeface="Aptos" panose="020B0004020202020204" pitchFamily="34" charset="0"/>
              </a:rPr>
              <a:t>Proyecto final - Practicas DevOps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64EEE22-C09C-99E1-7789-C04C57560CE2}"/>
              </a:ext>
            </a:extLst>
          </p:cNvPr>
          <p:cNvSpPr txBox="1"/>
          <p:nvPr/>
        </p:nvSpPr>
        <p:spPr>
          <a:xfrm>
            <a:off x="914400" y="5257800"/>
            <a:ext cx="9144000" cy="36420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>
                <a:solidFill>
                  <a:srgbClr val="FFFFFF"/>
                </a:solidFill>
                <a:latin typeface="Aptos" panose="020B0004020202020204" pitchFamily="34" charset="0"/>
              </a:rPr>
              <a:t>Grupo 1: Armando Chavez, Geovanny Robles, Guido Vallejo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2F1637F-A717-F1F4-8618-79B612278519}"/>
              </a:ext>
            </a:extLst>
          </p:cNvPr>
          <p:cNvSpPr txBox="1"/>
          <p:nvPr/>
        </p:nvSpPr>
        <p:spPr>
          <a:xfrm>
            <a:off x="914400" y="5867400"/>
            <a:ext cx="965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de-DE" sz="1400">
                <a:solidFill>
                  <a:srgbClr val="E0F2FE"/>
                </a:solidFill>
                <a:latin typeface="Aptos" panose="020B0004020202020204" pitchFamily="34" charset="0"/>
              </a:rPr>
              <a:t>Angular + .NET 8 + PostgreSQL + Docker + Terraform + Jenkins + Azure</a:t>
            </a:r>
            <a:endParaRPr lang="es-MX" sz="1400">
              <a:solidFill>
                <a:srgbClr val="E0F2FE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782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9E9C957-6684-7358-5964-90B146873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2881752-05A2-3736-D46D-CB123E42248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28787A0-64DC-D7D3-F83F-9AE845418CB3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AB30EFD-F899-0B38-DB5C-AFCCCE9C5183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Contexto y Objetivo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979B259-E125-978D-DC38-588C0EEA38A6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MX" sz="1100">
                <a:solidFill>
                  <a:srgbClr val="E0F2FE"/>
                </a:solidFill>
                <a:latin typeface="Aptos" panose="020B0004020202020204" pitchFamily="34" charset="0"/>
              </a:rPr>
              <a:t>Que problema resolvemos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2502F16-6416-78C2-D85F-A98AFB984BE0}"/>
              </a:ext>
            </a:extLst>
          </p:cNvPr>
          <p:cNvSpPr/>
          <p:nvPr/>
        </p:nvSpPr>
        <p:spPr>
          <a:xfrm>
            <a:off x="812800" y="1422400"/>
            <a:ext cx="49784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921AA7B-B7E0-C183-603C-959BB6A8B733}"/>
              </a:ext>
            </a:extLst>
          </p:cNvPr>
          <p:cNvSpPr txBox="1"/>
          <p:nvPr/>
        </p:nvSpPr>
        <p:spPr>
          <a:xfrm>
            <a:off x="1168400" y="1752600"/>
            <a:ext cx="4064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Situacion inicial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317D27F-1476-F24E-C6AB-1B2467433CFD}"/>
              </a:ext>
            </a:extLst>
          </p:cNvPr>
          <p:cNvSpPr txBox="1"/>
          <p:nvPr/>
        </p:nvSpPr>
        <p:spPr>
          <a:xfrm>
            <a:off x="1117600" y="2362200"/>
            <a:ext cx="4191000" cy="219547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Procesos de garantías, retenciones y devoluciones con trazabilidad limitada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Necesidad de centralizar facturas, contratos, entregables.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Riesgo operativo al depender de despliegues manuales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Falta de visibilidad rápida sobre salud, métricas y logs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7809BAFA-03B9-1F4C-DE67-2C2836145AF8}"/>
              </a:ext>
            </a:extLst>
          </p:cNvPr>
          <p:cNvSpPr/>
          <p:nvPr/>
        </p:nvSpPr>
        <p:spPr>
          <a:xfrm>
            <a:off x="6400800" y="1422400"/>
            <a:ext cx="49784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1A5B81-FD1E-7ABD-B3FE-DF96068ECC9D}"/>
              </a:ext>
            </a:extLst>
          </p:cNvPr>
          <p:cNvSpPr txBox="1"/>
          <p:nvPr/>
        </p:nvSpPr>
        <p:spPr>
          <a:xfrm>
            <a:off x="6756400" y="1752600"/>
            <a:ext cx="4064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Objetivo del piloto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F24EBBB-E379-4B7C-D2A4-2FA634F34ED8}"/>
              </a:ext>
            </a:extLst>
          </p:cNvPr>
          <p:cNvSpPr txBox="1"/>
          <p:nvPr/>
        </p:nvSpPr>
        <p:spPr>
          <a:xfrm>
            <a:off x="6794500" y="2462068"/>
            <a:ext cx="4191000" cy="193386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Construir un portal interno seguro y auditable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Automatizar Build, pruebas, empaquetado y despliegue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Manejar infraestructura como Código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Operar en Azure Container Apps con monitoreo y secretos centralizados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378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932142D-A741-E562-4FA6-81F1D60B92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rnd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 cap="rnd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7DF3AB6-E111-7207-051D-24BF5550A504}"/>
              </a:ext>
            </a:extLst>
          </p:cNvPr>
          <p:cNvSpPr/>
          <p:nvPr/>
        </p:nvSpPr>
        <p:spPr>
          <a:xfrm>
            <a:off x="0" y="0"/>
            <a:ext cx="12192000" cy="533400"/>
          </a:xfrm>
          <a:prstGeom prst="rect">
            <a:avLst/>
          </a:prstGeom>
          <a:solidFill>
            <a:srgbClr val="0F172A"/>
          </a:solidFill>
          <a:ln w="19050" cap="rnd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 cap="rnd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05114A-8616-DF7D-CDBA-2E37F3D516CF}"/>
              </a:ext>
            </a:extLst>
          </p:cNvPr>
          <p:cNvSpPr txBox="1"/>
          <p:nvPr/>
        </p:nvSpPr>
        <p:spPr>
          <a:xfrm>
            <a:off x="355600" y="254000"/>
            <a:ext cx="7112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400" b="1">
                <a:solidFill>
                  <a:srgbClr val="0F172A"/>
                </a:solidFill>
                <a:latin typeface="Aptos Display" panose="020B0004020202020204" pitchFamily="34" charset="0"/>
              </a:rPr>
              <a:t>Gestion del trabajo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9318D3-C62D-9708-F168-3B5C6605F051}"/>
              </a:ext>
            </a:extLst>
          </p:cNvPr>
          <p:cNvSpPr txBox="1"/>
          <p:nvPr/>
        </p:nvSpPr>
        <p:spPr>
          <a:xfrm>
            <a:off x="5334000" y="304800"/>
            <a:ext cx="6477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s-EC" sz="1100">
                <a:solidFill>
                  <a:srgbClr val="424A5A"/>
                </a:solidFill>
                <a:latin typeface="Aptos" panose="020B0004020202020204" pitchFamily="34" charset="0"/>
              </a:rPr>
              <a:t>Backlog, priorizacion y seguimiento del proyecto</a:t>
            </a:r>
            <a:endParaRPr lang="es-MX" sz="1100">
              <a:solidFill>
                <a:srgbClr val="424A5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8939D5A-8DA6-4FF5-CF5B-25206880A8C5}"/>
              </a:ext>
            </a:extLst>
          </p:cNvPr>
          <p:cNvSpPr/>
          <p:nvPr/>
        </p:nvSpPr>
        <p:spPr>
          <a:xfrm>
            <a:off x="431800" y="1016000"/>
            <a:ext cx="5334000" cy="3302000"/>
          </a:xfrm>
          <a:prstGeom prst="rect">
            <a:avLst/>
          </a:prstGeom>
          <a:solidFill>
            <a:srgbClr val="EDF7FF"/>
          </a:solidFill>
          <a:ln w="15875">
            <a:solidFill>
              <a:srgbClr val="AFC3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FA76286-9BDE-26FD-F7D7-1D6DD6803F0B}"/>
              </a:ext>
            </a:extLst>
          </p:cNvPr>
          <p:cNvSpPr txBox="1"/>
          <p:nvPr/>
        </p:nvSpPr>
        <p:spPr>
          <a:xfrm>
            <a:off x="635000" y="1244600"/>
            <a:ext cx="457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b="1">
                <a:solidFill>
                  <a:srgbClr val="0F172A"/>
                </a:solidFill>
                <a:latin typeface="Aptos Display" panose="020B0004020202020204" pitchFamily="34" charset="0"/>
              </a:rPr>
              <a:t>Como organizamos el trabajo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503E0F7-C716-FB7B-88DD-E344BF763816}"/>
              </a:ext>
            </a:extLst>
          </p:cNvPr>
          <p:cNvSpPr txBox="1"/>
          <p:nvPr/>
        </p:nvSpPr>
        <p:spPr>
          <a:xfrm>
            <a:off x="660400" y="1676400"/>
            <a:ext cx="4724400" cy="1938992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es-EC" sz="1500">
                <a:solidFill>
                  <a:srgbClr val="2B2E31"/>
                </a:solidFill>
                <a:latin typeface="Aptos" panose="020B0004020202020204" pitchFamily="34" charset="0"/>
              </a:rPr>
              <a:t>• Backlog gestionado en Jira con epicas, historias y tareas tecnicas.</a:t>
            </a:r>
          </a:p>
          <a:p>
            <a:r>
              <a:rPr lang="es-EC" sz="1500">
                <a:solidFill>
                  <a:srgbClr val="2B2E31"/>
                </a:solidFill>
                <a:latin typeface="Aptos" panose="020B0004020202020204" pitchFamily="34" charset="0"/>
              </a:rPr>
              <a:t>• Organizacion por sprint, responsables y estado de avance.</a:t>
            </a:r>
          </a:p>
          <a:p>
            <a:r>
              <a:rPr lang="es-EC" sz="1500">
                <a:solidFill>
                  <a:srgbClr val="2B2E31"/>
                </a:solidFill>
                <a:latin typeface="Aptos" panose="020B0004020202020204" pitchFamily="34" charset="0"/>
              </a:rPr>
              <a:t>• Priorizacion segun valor, dependencias y esfuerzo.</a:t>
            </a:r>
          </a:p>
          <a:p>
            <a:r>
              <a:rPr lang="es-EC" sz="1500">
                <a:solidFill>
                  <a:srgbClr val="2B2E31"/>
                </a:solidFill>
                <a:latin typeface="Aptos" panose="020B0004020202020204" pitchFamily="34" charset="0"/>
              </a:rPr>
              <a:t>• Seguimiento visible del trabajo de todo el equipo.</a:t>
            </a:r>
          </a:p>
          <a:p>
            <a:r>
              <a:rPr lang="es-EC" sz="1500">
                <a:solidFill>
                  <a:srgbClr val="2B2E31"/>
                </a:solidFill>
                <a:latin typeface="Aptos" panose="020B0004020202020204" pitchFamily="34" charset="0"/>
              </a:rPr>
              <a:t>• Definition of Done con desarrollo, pruebas, documentacion y despliegue.</a:t>
            </a:r>
            <a:endParaRPr lang="es-MX" sz="1500">
              <a:solidFill>
                <a:srgbClr val="2B2E31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46D71DC-6E57-0CD0-0B1A-37EBB97910A8}"/>
              </a:ext>
            </a:extLst>
          </p:cNvPr>
          <p:cNvSpPr/>
          <p:nvPr/>
        </p:nvSpPr>
        <p:spPr>
          <a:xfrm>
            <a:off x="431800" y="4673600"/>
            <a:ext cx="11379200" cy="965200"/>
          </a:xfrm>
          <a:prstGeom prst="rect">
            <a:avLst/>
          </a:prstGeom>
          <a:solidFill>
            <a:srgbClr val="F5F8F3"/>
          </a:solidFill>
          <a:ln w="13970">
            <a:solidFill>
              <a:srgbClr val="CD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72A0A3F-DF34-BBBD-AB7F-79C7D1C03DB3}"/>
              </a:ext>
            </a:extLst>
          </p:cNvPr>
          <p:cNvSpPr txBox="1"/>
          <p:nvPr/>
        </p:nvSpPr>
        <p:spPr>
          <a:xfrm>
            <a:off x="660400" y="4927600"/>
            <a:ext cx="10922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500">
                <a:solidFill>
                  <a:srgbClr val="2C3527"/>
                </a:solidFill>
                <a:latin typeface="Aptos" panose="020B0004020202020204" pitchFamily="34" charset="0"/>
              </a:rPr>
              <a:t>Esta gestion permitio planificar el alcance, distribuir responsabilidades y dar seguimiento continuo a entregables funcionales, actividades DevOps e integracion con GitHub desde Jira.</a:t>
            </a:r>
            <a:endParaRPr lang="es-MX" sz="1500">
              <a:solidFill>
                <a:srgbClr val="2C3527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6485244-45BE-2EA6-A21C-8C0B6481EE1E}"/>
              </a:ext>
            </a:extLst>
          </p:cNvPr>
          <p:cNvSpPr/>
          <p:nvPr/>
        </p:nvSpPr>
        <p:spPr>
          <a:xfrm>
            <a:off x="6096000" y="1041400"/>
            <a:ext cx="5715000" cy="3302000"/>
          </a:xfrm>
          <a:prstGeom prst="rect">
            <a:avLst/>
          </a:prstGeom>
          <a:solidFill>
            <a:srgbClr val="FFF6EE"/>
          </a:solidFill>
          <a:ln w="15875">
            <a:solidFill>
              <a:srgbClr val="DBCA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FD80F4E-0451-09A2-BEF8-6D7CC03DF82D}"/>
              </a:ext>
            </a:extLst>
          </p:cNvPr>
          <p:cNvSpPr txBox="1"/>
          <p:nvPr/>
        </p:nvSpPr>
        <p:spPr>
          <a:xfrm>
            <a:off x="6350000" y="1244600"/>
            <a:ext cx="4064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b="1">
                <a:solidFill>
                  <a:srgbClr val="4A3217"/>
                </a:solidFill>
                <a:latin typeface="Aptos Display" panose="020B0004020202020204" pitchFamily="34" charset="0"/>
              </a:rPr>
              <a:t>Trazabilidad con GitHub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40B2FCD-C7CD-57CE-B4EC-3BFDEE64C997}"/>
              </a:ext>
            </a:extLst>
          </p:cNvPr>
          <p:cNvSpPr txBox="1"/>
          <p:nvPr/>
        </p:nvSpPr>
        <p:spPr>
          <a:xfrm>
            <a:off x="6350000" y="1676400"/>
            <a:ext cx="5054600" cy="18158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1400">
                <a:solidFill>
                  <a:srgbClr val="3D3123"/>
                </a:solidFill>
                <a:latin typeface="Aptos" panose="020B0004020202020204" pitchFamily="34" charset="0"/>
              </a:rPr>
              <a:t>• Jira mostraba tareas vinculadas al desarrollo en GitHub.</a:t>
            </a:r>
          </a:p>
          <a:p>
            <a:r>
              <a:rPr lang="es-EC" sz="1400">
                <a:solidFill>
                  <a:srgbClr val="3D3123"/>
                </a:solidFill>
                <a:latin typeface="Aptos" panose="020B0004020202020204" pitchFamily="34" charset="0"/>
              </a:rPr>
              <a:t>• Ejemplo visible: SG-34 Pipeline CI.</a:t>
            </a:r>
          </a:p>
          <a:p>
            <a:r>
              <a:rPr lang="es-EC" sz="1400">
                <a:solidFill>
                  <a:srgbClr val="3D3123"/>
                </a:solidFill>
                <a:latin typeface="Aptos" panose="020B0004020202020204" pitchFamily="34" charset="0"/>
              </a:rPr>
              <a:t>• Desde Jira se observaban ramas, commits, pull request y compilaciones.</a:t>
            </a:r>
          </a:p>
          <a:p>
            <a:r>
              <a:rPr lang="es-EC" sz="1400">
                <a:solidFill>
                  <a:srgbClr val="3D3123"/>
                </a:solidFill>
                <a:latin typeface="Aptos" panose="020B0004020202020204" pitchFamily="34" charset="0"/>
              </a:rPr>
              <a:t>• Evidencia de integracion entre gestion del trabajo y ejecucion tecnica.</a:t>
            </a:r>
          </a:p>
          <a:p>
            <a:r>
              <a:rPr lang="es-EC" sz="1400">
                <a:solidFill>
                  <a:srgbClr val="3D3123"/>
                </a:solidFill>
                <a:latin typeface="Aptos" panose="020B0004020202020204" pitchFamily="34" charset="0"/>
              </a:rPr>
              <a:t>• Esto permitio seguir el avance funcional y DevOps desde un mismo tablero.</a:t>
            </a:r>
            <a:endParaRPr lang="es-MX" sz="1400">
              <a:solidFill>
                <a:srgbClr val="3D3123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1CCFC4FA-DC37-9D14-92D6-6EF152642BA7}"/>
              </a:ext>
            </a:extLst>
          </p:cNvPr>
          <p:cNvSpPr/>
          <p:nvPr/>
        </p:nvSpPr>
        <p:spPr>
          <a:xfrm>
            <a:off x="6604000" y="3098800"/>
            <a:ext cx="4699000" cy="889000"/>
          </a:xfrm>
          <a:prstGeom prst="rect">
            <a:avLst/>
          </a:prstGeom>
          <a:solidFill>
            <a:srgbClr val="EDF7FF"/>
          </a:solidFill>
          <a:ln w="12700">
            <a:solidFill>
              <a:srgbClr val="AFC3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8A52929-F814-32B9-DBDA-EFDF66FECC2F}"/>
              </a:ext>
            </a:extLst>
          </p:cNvPr>
          <p:cNvSpPr txBox="1"/>
          <p:nvPr/>
        </p:nvSpPr>
        <p:spPr>
          <a:xfrm>
            <a:off x="6807200" y="3276600"/>
            <a:ext cx="42926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1100">
                <a:solidFill>
                  <a:srgbClr val="33445A"/>
                </a:solidFill>
                <a:latin typeface="Aptos" panose="020B0004020202020204" pitchFamily="34" charset="0"/>
              </a:rPr>
              <a:t>Ejemplo en Jira: SG-34 CI/CD (GitHub Actions) con evidencia de pull request, commit y compilacion vinculados.</a:t>
            </a:r>
            <a:endParaRPr lang="es-MX" sz="1100">
              <a:solidFill>
                <a:srgbClr val="33445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216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0318-FB7A-F2A5-02EE-D798F32FF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AC5429F-7A78-A6BC-F2C3-1E9304345D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12991B9-614F-AB6A-3E76-9938C445EE1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C6B5710-D569-D71E-7BEA-01A7B2D654C4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7A76853-C8BE-E0E2-5B50-C7A8108D81C8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 dirty="0" err="1">
                <a:solidFill>
                  <a:srgbClr val="FFFFFF"/>
                </a:solidFill>
                <a:latin typeface="Aptos" panose="020B0004020202020204" pitchFamily="34" charset="0"/>
              </a:rPr>
              <a:t>Solucion</a:t>
            </a:r>
            <a:r>
              <a:rPr lang="es-MX" sz="2400" b="1" dirty="0">
                <a:solidFill>
                  <a:srgbClr val="FFFFFF"/>
                </a:solidFill>
                <a:latin typeface="Aptos" panose="020B0004020202020204" pitchFamily="34" charset="0"/>
              </a:rPr>
              <a:t> Propuesta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FE4C4C-49E3-DF9A-120E-10B4B3942C41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MX" sz="1100">
                <a:solidFill>
                  <a:srgbClr val="E0F2FE"/>
                </a:solidFill>
                <a:latin typeface="Aptos" panose="020B0004020202020204" pitchFamily="34" charset="0"/>
              </a:rPr>
              <a:t>Que problema resolvemos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03F17A99-5C41-0EB8-E0DB-DC6F48D67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74" y="835615"/>
            <a:ext cx="11299049" cy="597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0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3664D59-5216-F9EA-56F7-F932CDA19F89}"/>
              </a:ext>
            </a:extLst>
          </p:cNvPr>
          <p:cNvSpPr/>
          <p:nvPr/>
        </p:nvSpPr>
        <p:spPr>
          <a:xfrm>
            <a:off x="0" y="33789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7F7CDD-6A21-6318-BA7B-16E7DD90D70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A72C7F1-9178-1706-5C64-FDCDFAD76505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B595D33-0E1A-5D01-102B-74CF26B5C319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Stack Tecnico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F2160E4-528D-39A0-5719-D0EAED51FCA8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MX" sz="1100">
                <a:solidFill>
                  <a:srgbClr val="E0F2FE"/>
                </a:solidFill>
                <a:latin typeface="Aptos" panose="020B0004020202020204" pitchFamily="34" charset="0"/>
              </a:rPr>
              <a:t>Componentes principales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5C941A5-CABE-EC7B-8B90-C3012ABB3ACD}"/>
              </a:ext>
            </a:extLst>
          </p:cNvPr>
          <p:cNvSpPr/>
          <p:nvPr/>
        </p:nvSpPr>
        <p:spPr>
          <a:xfrm>
            <a:off x="0" y="1524000"/>
            <a:ext cx="2021746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6BF1FCC-9248-279A-1279-A56B4672266A}"/>
              </a:ext>
            </a:extLst>
          </p:cNvPr>
          <p:cNvSpPr/>
          <p:nvPr/>
        </p:nvSpPr>
        <p:spPr>
          <a:xfrm>
            <a:off x="0" y="1462524"/>
            <a:ext cx="2021746" cy="1016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4D3CC69-B0A9-20BF-AC33-A69AB0B5932C}"/>
              </a:ext>
            </a:extLst>
          </p:cNvPr>
          <p:cNvSpPr txBox="1"/>
          <p:nvPr/>
        </p:nvSpPr>
        <p:spPr>
          <a:xfrm>
            <a:off x="368300" y="1672542"/>
            <a:ext cx="21082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000" b="1" dirty="0" err="1">
                <a:solidFill>
                  <a:srgbClr val="0F172A"/>
                </a:solidFill>
                <a:latin typeface="Aptos" panose="020B0004020202020204" pitchFamily="34" charset="0"/>
              </a:rPr>
              <a:t>Frontend</a:t>
            </a:r>
            <a:endParaRPr lang="es-MX" sz="2000" b="1" dirty="0">
              <a:solidFill>
                <a:srgbClr val="0F172A"/>
              </a:solidFill>
              <a:latin typeface="Aptos" panose="020B00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0EF38E6-EAD0-B78B-B7ED-6CC710D3A70C}"/>
              </a:ext>
            </a:extLst>
          </p:cNvPr>
          <p:cNvSpPr txBox="1"/>
          <p:nvPr/>
        </p:nvSpPr>
        <p:spPr>
          <a:xfrm>
            <a:off x="273049" y="2362248"/>
            <a:ext cx="1748697" cy="14106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Angular 20</a:t>
            </a: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Angular Material</a:t>
            </a:r>
          </a:p>
          <a:p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Nginx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proxy</a:t>
            </a: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Variables por ambiente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D733BEFA-C9FD-4EC0-8F65-7FBF237B11BB}"/>
              </a:ext>
            </a:extLst>
          </p:cNvPr>
          <p:cNvSpPr/>
          <p:nvPr/>
        </p:nvSpPr>
        <p:spPr>
          <a:xfrm>
            <a:off x="2241550" y="1498600"/>
            <a:ext cx="1877154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80F86E0-460D-521D-AC14-019E4D7532E6}"/>
              </a:ext>
            </a:extLst>
          </p:cNvPr>
          <p:cNvSpPr/>
          <p:nvPr/>
        </p:nvSpPr>
        <p:spPr>
          <a:xfrm>
            <a:off x="2241550" y="1462524"/>
            <a:ext cx="1877154" cy="1016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2C7B2A2-9E18-E881-FAE7-EC086F8EECE2}"/>
              </a:ext>
            </a:extLst>
          </p:cNvPr>
          <p:cNvSpPr txBox="1"/>
          <p:nvPr/>
        </p:nvSpPr>
        <p:spPr>
          <a:xfrm>
            <a:off x="2476500" y="1670391"/>
            <a:ext cx="21082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000" b="1" dirty="0" err="1">
                <a:solidFill>
                  <a:srgbClr val="0F172A"/>
                </a:solidFill>
                <a:latin typeface="Aptos" panose="020B0004020202020204" pitchFamily="34" charset="0"/>
              </a:rPr>
              <a:t>Backend</a:t>
            </a:r>
            <a:endParaRPr lang="es-MX" sz="2000" b="1" dirty="0">
              <a:solidFill>
                <a:srgbClr val="0F172A"/>
              </a:solidFill>
              <a:latin typeface="Aptos" panose="020B00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3766978-3A86-AE38-B985-32626CCBBD4D}"/>
              </a:ext>
            </a:extLst>
          </p:cNvPr>
          <p:cNvSpPr txBox="1"/>
          <p:nvPr/>
        </p:nvSpPr>
        <p:spPr>
          <a:xfrm>
            <a:off x="2400300" y="2448247"/>
            <a:ext cx="1458636" cy="14106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ASP.NET Core .NET 8</a:t>
            </a: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EF Core</a:t>
            </a: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JWT + RBAC</a:t>
            </a:r>
          </a:p>
          <a:p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Hangfire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2CF08E3B-9B7E-7035-1FFB-4E2EFD9DE362}"/>
              </a:ext>
            </a:extLst>
          </p:cNvPr>
          <p:cNvSpPr/>
          <p:nvPr/>
        </p:nvSpPr>
        <p:spPr>
          <a:xfrm>
            <a:off x="4319223" y="1506145"/>
            <a:ext cx="1785808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CA0B265-A8D2-3C52-4CAA-FD7FB0E2E844}"/>
              </a:ext>
            </a:extLst>
          </p:cNvPr>
          <p:cNvSpPr/>
          <p:nvPr/>
        </p:nvSpPr>
        <p:spPr>
          <a:xfrm>
            <a:off x="4358781" y="1455345"/>
            <a:ext cx="1737220" cy="108779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3EAC6A2-B5D6-B01C-087F-9D7092D6026E}"/>
              </a:ext>
            </a:extLst>
          </p:cNvPr>
          <p:cNvSpPr txBox="1"/>
          <p:nvPr/>
        </p:nvSpPr>
        <p:spPr>
          <a:xfrm>
            <a:off x="4655891" y="1670390"/>
            <a:ext cx="1440109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000" b="1" dirty="0">
                <a:solidFill>
                  <a:srgbClr val="0F172A"/>
                </a:solidFill>
                <a:latin typeface="Aptos" panose="020B0004020202020204" pitchFamily="34" charset="0"/>
              </a:rPr>
              <a:t>Datos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74B39F0-EE63-16A1-07E2-0D1E63828401}"/>
              </a:ext>
            </a:extLst>
          </p:cNvPr>
          <p:cNvSpPr txBox="1"/>
          <p:nvPr/>
        </p:nvSpPr>
        <p:spPr>
          <a:xfrm>
            <a:off x="4358781" y="2409134"/>
            <a:ext cx="2057400" cy="14106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PostgreSQL 16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Schema core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Adjuntos fuera de BD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Azure Files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3D0EB701-CFF8-AE1C-4828-99B0A7A33DB1}"/>
              </a:ext>
            </a:extLst>
          </p:cNvPr>
          <p:cNvSpPr/>
          <p:nvPr/>
        </p:nvSpPr>
        <p:spPr>
          <a:xfrm>
            <a:off x="6336078" y="1524000"/>
            <a:ext cx="2137503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FDE2D1B-4435-A602-65C8-9E70994716FA}"/>
              </a:ext>
            </a:extLst>
          </p:cNvPr>
          <p:cNvSpPr/>
          <p:nvPr/>
        </p:nvSpPr>
        <p:spPr>
          <a:xfrm>
            <a:off x="6380527" y="1455345"/>
            <a:ext cx="2137503" cy="93225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EBFCBE3-8240-6942-EF71-07FD0FEC10FB}"/>
              </a:ext>
            </a:extLst>
          </p:cNvPr>
          <p:cNvSpPr txBox="1"/>
          <p:nvPr/>
        </p:nvSpPr>
        <p:spPr>
          <a:xfrm>
            <a:off x="6908800" y="1676439"/>
            <a:ext cx="21082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000" b="1" dirty="0">
                <a:solidFill>
                  <a:srgbClr val="0F172A"/>
                </a:solidFill>
                <a:latin typeface="Aptos" panose="020B0004020202020204" pitchFamily="34" charset="0"/>
              </a:rPr>
              <a:t>DevOps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CF003B4-073A-696B-8E76-1D9050941485}"/>
              </a:ext>
            </a:extLst>
          </p:cNvPr>
          <p:cNvSpPr txBox="1"/>
          <p:nvPr/>
        </p:nvSpPr>
        <p:spPr>
          <a:xfrm>
            <a:off x="6438406" y="2448246"/>
            <a:ext cx="2057400" cy="14106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Docker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Compose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Jenkins</a:t>
            </a:r>
          </a:p>
          <a:p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Grafana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GitHub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Actions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Terraform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+ Azure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017145A6-19C9-7273-77A2-C48F5686CB29}"/>
              </a:ext>
            </a:extLst>
          </p:cNvPr>
          <p:cNvSpPr/>
          <p:nvPr/>
        </p:nvSpPr>
        <p:spPr>
          <a:xfrm>
            <a:off x="9105784" y="1486023"/>
            <a:ext cx="2137503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4A7A4D2-0679-7303-7742-EA1E9DAC3A7E}"/>
              </a:ext>
            </a:extLst>
          </p:cNvPr>
          <p:cNvSpPr/>
          <p:nvPr/>
        </p:nvSpPr>
        <p:spPr>
          <a:xfrm>
            <a:off x="9123494" y="1439411"/>
            <a:ext cx="2137503" cy="93225"/>
          </a:xfrm>
          <a:prstGeom prst="rect">
            <a:avLst/>
          </a:prstGeom>
          <a:solidFill>
            <a:srgbClr val="FF0000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64B4DB54-D392-7FF8-678F-0208B665288F}"/>
              </a:ext>
            </a:extLst>
          </p:cNvPr>
          <p:cNvSpPr txBox="1"/>
          <p:nvPr/>
        </p:nvSpPr>
        <p:spPr>
          <a:xfrm>
            <a:off x="9474200" y="1670390"/>
            <a:ext cx="21082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000" b="1" dirty="0">
                <a:solidFill>
                  <a:srgbClr val="0F172A"/>
                </a:solidFill>
                <a:latin typeface="Aptos" panose="020B0004020202020204" pitchFamily="34" charset="0"/>
              </a:rPr>
              <a:t>Monitoreo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2C955E7-5648-4619-E049-095D18803EF5}"/>
              </a:ext>
            </a:extLst>
          </p:cNvPr>
          <p:cNvSpPr txBox="1"/>
          <p:nvPr/>
        </p:nvSpPr>
        <p:spPr>
          <a:xfrm>
            <a:off x="9145835" y="2362247"/>
            <a:ext cx="2057400" cy="14106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Grafana</a:t>
            </a:r>
            <a:b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</a:b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Prometeus</a:t>
            </a:r>
            <a:b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</a:b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Loki</a:t>
            </a:r>
            <a:b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</a:b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Promtail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CAdvisor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501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1D493A0-3089-A624-DC41-508330407A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87C2402-9923-0DD6-A6C7-F88BE1483C4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DE1874-EF25-5958-9E32-7718AA39EA70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D1FD3F9-6464-74D9-82BF-AE569FF6DCB6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Gestion de Backlog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4A097E9-2168-C474-8241-465A36AEAC23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EC" sz="1100">
                <a:solidFill>
                  <a:srgbClr val="E0F2FE"/>
                </a:solidFill>
                <a:latin typeface="Aptos" panose="020B0004020202020204" pitchFamily="34" charset="0"/>
              </a:rPr>
              <a:t>Trabajo organizado con enfoque agil</a:t>
            </a:r>
            <a:endParaRPr lang="es-MX" sz="1100">
              <a:solidFill>
                <a:srgbClr val="E0F2FE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C626A31-D7B5-6468-A248-4AE34371510E}"/>
              </a:ext>
            </a:extLst>
          </p:cNvPr>
          <p:cNvSpPr/>
          <p:nvPr/>
        </p:nvSpPr>
        <p:spPr>
          <a:xfrm>
            <a:off x="711200" y="1397000"/>
            <a:ext cx="5207000" cy="398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C2A220B-A28A-ECA3-9BE8-3ADEA4A781E1}"/>
              </a:ext>
            </a:extLst>
          </p:cNvPr>
          <p:cNvSpPr txBox="1"/>
          <p:nvPr/>
        </p:nvSpPr>
        <p:spPr>
          <a:xfrm>
            <a:off x="1041400" y="1727200"/>
            <a:ext cx="4064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Epicas principales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D3B6509-16E0-9B0F-73EB-6C9F40A06048}"/>
              </a:ext>
            </a:extLst>
          </p:cNvPr>
          <p:cNvSpPr txBox="1"/>
          <p:nvPr/>
        </p:nvSpPr>
        <p:spPr>
          <a:xfrm>
            <a:off x="1041400" y="2336800"/>
            <a:ext cx="4292600" cy="194925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Modelo de dominio y base de datos</a:t>
            </a:r>
          </a:p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Autenticacion, usuarios y roles (RBAC)</a:t>
            </a:r>
          </a:p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Backend core: proveedores, contratos, entregables y facturas</a:t>
            </a:r>
          </a:p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Frontend Angular</a:t>
            </a:r>
          </a:p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Observabilidad</a:t>
            </a:r>
          </a:p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Contenedores, CI/CD e IaC multiambiente</a:t>
            </a:r>
          </a:p>
          <a:p>
            <a:r>
              <a:rPr lang="es-EC" sz="1500">
                <a:solidFill>
                  <a:srgbClr val="334155"/>
                </a:solidFill>
                <a:latin typeface="Aptos" panose="020B0004020202020204" pitchFamily="34" charset="0"/>
              </a:rPr>
              <a:t>- Documentacion, informe y demo</a:t>
            </a:r>
            <a:endParaRPr lang="es-MX" sz="15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EF3BD42D-7FE4-7AE7-BFE0-FB07D5D862BA}"/>
              </a:ext>
            </a:extLst>
          </p:cNvPr>
          <p:cNvSpPr/>
          <p:nvPr/>
        </p:nvSpPr>
        <p:spPr>
          <a:xfrm>
            <a:off x="6527800" y="1397000"/>
            <a:ext cx="4953000" cy="398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40EB06C-B9AA-76E2-4835-18B6B82A4AB9}"/>
              </a:ext>
            </a:extLst>
          </p:cNvPr>
          <p:cNvSpPr txBox="1"/>
          <p:nvPr/>
        </p:nvSpPr>
        <p:spPr>
          <a:xfrm>
            <a:off x="6858000" y="1727200"/>
            <a:ext cx="4064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Calidad y seguimiento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D57F600-36A5-D86D-1A9C-52DA171D6CC2}"/>
              </a:ext>
            </a:extLst>
          </p:cNvPr>
          <p:cNvSpPr txBox="1"/>
          <p:nvPr/>
        </p:nvSpPr>
        <p:spPr>
          <a:xfrm>
            <a:off x="6858000" y="2336800"/>
            <a:ext cx="3962400" cy="219547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Priorización por valor, dependencias, esfuerzo y riesgo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EC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Definition</a:t>
            </a:r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EC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of</a:t>
            </a:r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 Done con PR, pruebas, despliegue y documentación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Métricas: velocidad, lead time, </a:t>
            </a:r>
            <a:r>
              <a:rPr lang="es-EC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cycle</a:t>
            </a:r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 time y retrabajo</a:t>
            </a:r>
          </a:p>
          <a:p>
            <a:r>
              <a:rPr lang="es-EC" sz="1700" dirty="0">
                <a:solidFill>
                  <a:srgbClr val="334155"/>
                </a:solidFill>
                <a:latin typeface="Aptos" panose="020B0004020202020204" pitchFamily="34" charset="0"/>
              </a:rPr>
              <a:t>- Kanban para visibilidad de Tareas y priorizar 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932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BDD376B-B34F-8AFC-6068-ED5583E73FE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F229EF-DEC1-D802-3D0F-46924F2F49C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4D6D40A-C022-01A0-FB6C-B01CDE4F1B85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5D6105E-EDE3-A106-8E52-3EB7166459DD}"/>
              </a:ext>
            </a:extLst>
          </p:cNvPr>
          <p:cNvSpPr txBox="1"/>
          <p:nvPr/>
        </p:nvSpPr>
        <p:spPr>
          <a:xfrm>
            <a:off x="457200" y="152400"/>
            <a:ext cx="90170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endParaRPr lang="en-US" sz="2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9B0D6F0-949B-1AE6-791C-FC037ABE00FD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endParaRPr lang="en-US"/>
          </a:p>
        </p:txBody>
      </p:sp>
      <p:pic>
        <p:nvPicPr>
          <p:cNvPr id="8" name="CodexSVG_7">
            <a:extLst>
              <a:ext uri="{FF2B5EF4-FFF2-40B4-BE49-F238E27FC236}">
                <a16:creationId xmlns:a16="http://schemas.microsoft.com/office/drawing/2014/main" id="{8B8BC3D5-1EBB-DCE1-C54C-49147BB95E1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14238" y="990600"/>
            <a:ext cx="7963525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77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86B8B61-6590-6D4C-360B-5D4419B1D6C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CBE28D1-0209-A53C-89E8-E26A9C8A418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B0C6CC-EF96-A3F6-E51C-0409ECB64DD5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5238BE9-F028-272B-1909-5A971BB9EBDB}"/>
              </a:ext>
            </a:extLst>
          </p:cNvPr>
          <p:cNvSpPr txBox="1"/>
          <p:nvPr/>
        </p:nvSpPr>
        <p:spPr>
          <a:xfrm>
            <a:off x="482367" y="146280"/>
            <a:ext cx="90170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endParaRPr lang="en-US" sz="2400" b="1" noProof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7" name="CodexSVG_8">
            <a:extLst>
              <a:ext uri="{FF2B5EF4-FFF2-40B4-BE49-F238E27FC236}">
                <a16:creationId xmlns:a16="http://schemas.microsoft.com/office/drawing/2014/main" id="{83EF7D1C-687E-1EFB-D2F1-1E675872DFA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85326" y="990600"/>
            <a:ext cx="6421348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646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E0C93C6-2F9D-2DC9-900F-B7E42510A1E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41FB281-9973-FAD9-2FC1-B74DA32DC0AB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8B164E6-FE8F-EC73-0B1B-85EC46AD18A8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9534F0B-F51E-C9F3-8BC2-41E3059B86CC}"/>
              </a:ext>
            </a:extLst>
          </p:cNvPr>
          <p:cNvSpPr txBox="1"/>
          <p:nvPr/>
        </p:nvSpPr>
        <p:spPr>
          <a:xfrm>
            <a:off x="457200" y="140032"/>
            <a:ext cx="90170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endParaRPr lang="en-US" sz="2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7" name="CodexSVG_9">
            <a:extLst>
              <a:ext uri="{FF2B5EF4-FFF2-40B4-BE49-F238E27FC236}">
                <a16:creationId xmlns:a16="http://schemas.microsoft.com/office/drawing/2014/main" id="{B564CE16-D442-75F2-FA1E-9012DB082E0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21000" y="990600"/>
            <a:ext cx="635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27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109CBBE-CBF0-58EB-DEBF-79325430EC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9C59990-6BF1-D5C7-BAB8-C9769F96AD2B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E5D01FC-B4CE-FFFF-2FDA-DD2F38936915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7519837-3EDC-8445-9E66-147390309D22}"/>
              </a:ext>
            </a:extLst>
          </p:cNvPr>
          <p:cNvSpPr txBox="1"/>
          <p:nvPr/>
        </p:nvSpPr>
        <p:spPr>
          <a:xfrm>
            <a:off x="457200" y="152400"/>
            <a:ext cx="90170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endParaRPr lang="en-US" sz="2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CDDDC1D-FD8B-4CBD-98B6-39610A8D1BB5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endParaRPr lang="en-US" sz="1100">
              <a:solidFill>
                <a:srgbClr val="E0F2FE"/>
              </a:solidFill>
              <a:latin typeface="Aptos" panose="020B0004020202020204" pitchFamily="34" charset="0"/>
            </a:endParaRPr>
          </a:p>
        </p:txBody>
      </p:sp>
      <p:pic>
        <p:nvPicPr>
          <p:cNvPr id="8" name="CodexSVG_10">
            <a:extLst>
              <a:ext uri="{FF2B5EF4-FFF2-40B4-BE49-F238E27FC236}">
                <a16:creationId xmlns:a16="http://schemas.microsoft.com/office/drawing/2014/main" id="{5373F746-411F-E04B-51EB-1BA8FF0D2CA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67000" y="990600"/>
            <a:ext cx="6858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045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70E9C25-1052-545B-F5CD-A2280357533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DC4D7A9-2989-5D07-BBA3-C7FA393D81B6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6BAB9E6-9830-07A9-D34E-3CBBB4244E5D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002D434-2768-1B29-6CEE-674E47B38182}"/>
              </a:ext>
            </a:extLst>
          </p:cNvPr>
          <p:cNvSpPr txBox="1"/>
          <p:nvPr/>
        </p:nvSpPr>
        <p:spPr>
          <a:xfrm>
            <a:off x="457200" y="152400"/>
            <a:ext cx="90170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endParaRPr lang="en-US" sz="2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7" name="CodexSVG_11">
            <a:extLst>
              <a:ext uri="{FF2B5EF4-FFF2-40B4-BE49-F238E27FC236}">
                <a16:creationId xmlns:a16="http://schemas.microsoft.com/office/drawing/2014/main" id="{F44B9823-6CFD-9C4E-084D-99CBA923006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93794" y="990600"/>
            <a:ext cx="8404412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206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A10837C-6558-37F1-166C-658FCFEDF17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32E7D23-AC7A-B8D4-F40C-0DB6CE5757A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32AF463-FE37-18A9-647E-D05868E173BF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4BCC71A-E110-9EF8-8270-557AABF93235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Pipeline CI/CD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364F441-1085-6072-233B-6F1A1B6D5BE5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MX" sz="1100">
                <a:solidFill>
                  <a:srgbClr val="E0F2FE"/>
                </a:solidFill>
                <a:latin typeface="Aptos" panose="020B0004020202020204" pitchFamily="34" charset="0"/>
              </a:rPr>
              <a:t>Validacion continua + despliegue continuo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63B14137-412C-2D9B-6AAA-5B336EC3E94D}"/>
              </a:ext>
            </a:extLst>
          </p:cNvPr>
          <p:cNvSpPr/>
          <p:nvPr/>
        </p:nvSpPr>
        <p:spPr>
          <a:xfrm>
            <a:off x="660400" y="1346200"/>
            <a:ext cx="5003800" cy="30844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7B0D882-284A-6F4A-BA8F-DD8AD7275FE3}"/>
              </a:ext>
            </a:extLst>
          </p:cNvPr>
          <p:cNvSpPr txBox="1"/>
          <p:nvPr/>
        </p:nvSpPr>
        <p:spPr>
          <a:xfrm>
            <a:off x="1041400" y="1676400"/>
            <a:ext cx="3810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CI - GitHub Actions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D25591A-5C2B-F84C-DB9E-D6BCB66114E3}"/>
              </a:ext>
            </a:extLst>
          </p:cNvPr>
          <p:cNvSpPr txBox="1"/>
          <p:nvPr/>
        </p:nvSpPr>
        <p:spPr>
          <a:xfrm>
            <a:off x="1066800" y="2286000"/>
            <a:ext cx="3937000" cy="193386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- Checkout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- Backend .NET 8: restore, build y tests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- Frontend Angular: npm ci y build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- Terraform: fmt, init sin backend y validate</a:t>
            </a:r>
          </a:p>
          <a:p>
            <a:r>
              <a:rPr lang="es-MX" sz="1700">
                <a:solidFill>
                  <a:srgbClr val="334155"/>
                </a:solidFill>
                <a:latin typeface="Aptos" panose="020B0004020202020204" pitchFamily="34" charset="0"/>
              </a:rPr>
              <a:t>- Objetivo: proteger main antes del despliegue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C0CB7AD-9802-6265-6D3F-5D5D15E97F61}"/>
              </a:ext>
            </a:extLst>
          </p:cNvPr>
          <p:cNvSpPr/>
          <p:nvPr/>
        </p:nvSpPr>
        <p:spPr>
          <a:xfrm>
            <a:off x="6502400" y="1346200"/>
            <a:ext cx="5003800" cy="30844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69145B1-20C5-9464-BF43-DF6AD537846B}"/>
              </a:ext>
            </a:extLst>
          </p:cNvPr>
          <p:cNvSpPr txBox="1"/>
          <p:nvPr/>
        </p:nvSpPr>
        <p:spPr>
          <a:xfrm>
            <a:off x="6883400" y="1676400"/>
            <a:ext cx="3810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CD - Jenkins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6F5BD32-6304-FF41-D004-5CBE034E4EBA}"/>
              </a:ext>
            </a:extLst>
          </p:cNvPr>
          <p:cNvSpPr txBox="1"/>
          <p:nvPr/>
        </p:nvSpPr>
        <p:spPr>
          <a:xfrm>
            <a:off x="6908799" y="2286000"/>
            <a:ext cx="4441505" cy="193386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- Resolver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metadata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version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inmutable v&lt;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version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&gt;-&lt;sha7&gt;</a:t>
            </a: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Tests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backend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build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frontend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Build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/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push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de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imagenes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backend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frontend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- Key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Vault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y secretos de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jenkins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Terraform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init</a:t>
            </a:r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, plan y </a:t>
            </a:r>
            <a:r>
              <a:rPr lang="es-MX" sz="1700" dirty="0" err="1">
                <a:solidFill>
                  <a:srgbClr val="334155"/>
                </a:solidFill>
                <a:latin typeface="Aptos" panose="020B0004020202020204" pitchFamily="34" charset="0"/>
              </a:rPr>
              <a:t>apply</a:t>
            </a:r>
            <a:endParaRPr lang="es-MX" sz="17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sz="1700" dirty="0">
                <a:solidFill>
                  <a:srgbClr val="334155"/>
                </a:solidFill>
                <a:latin typeface="Aptos" panose="020B0004020202020204" pitchFamily="34" charset="0"/>
              </a:rPr>
              <a:t>- Compuerta manual para Test/producción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8B17565F-C205-5C29-7EB3-7D552A1E2F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930"/>
          <a:stretch>
            <a:fillRect/>
          </a:stretch>
        </p:blipFill>
        <p:spPr>
          <a:xfrm>
            <a:off x="58723" y="5083728"/>
            <a:ext cx="11887435" cy="1218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617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0DCDC8A-D91F-8E75-EA70-498E270D43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2B9C7A0-49B6-5774-ACA4-87433FA32E3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66F0A5-9E69-BC68-3E4D-C7E0BDDE2D0C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59DD569-2A1B-26EE-A37D-404DCA1843AA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Incidencias Reales y Aprendizajes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A6EA6B5-16F2-1689-6334-C9A72809C0C7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EC" sz="1100">
                <a:solidFill>
                  <a:srgbClr val="E0F2FE"/>
                </a:solidFill>
                <a:latin typeface="Aptos" panose="020B0004020202020204" pitchFamily="34" charset="0"/>
              </a:rPr>
              <a:t>Lo que se ajusto durante el despliegue</a:t>
            </a:r>
            <a:endParaRPr lang="es-MX" sz="1100">
              <a:solidFill>
                <a:srgbClr val="E0F2FE"/>
              </a:solidFill>
              <a:latin typeface="Aptos" panose="020B00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E149F4E-A84E-6AAF-1A1C-2DE00EA191CC}"/>
              </a:ext>
            </a:extLst>
          </p:cNvPr>
          <p:cNvSpPr txBox="1"/>
          <p:nvPr/>
        </p:nvSpPr>
        <p:spPr>
          <a:xfrm>
            <a:off x="939800" y="1320800"/>
            <a:ext cx="10414000" cy="25955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Capacidad y cuota: Standard_B2s no disponible inicialmente en East US; se homologaron ambientes a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centralus</a:t>
            </a:r>
            <a:endParaRPr lang="es-MX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Arquitectura de VM: se descarto SKU Arm64 por incompatibilidad con el escenario</a:t>
            </a:r>
          </a:p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PostgreSQL: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restriccion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regional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LocationIsOfferRestricted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en la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suscripcion</a:t>
            </a:r>
            <a:endParaRPr lang="es-MX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RBAC: Jenkins necesitaba permisos para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roleAssignments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/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write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sobre Key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Vault</a:t>
            </a:r>
            <a:endParaRPr lang="es-MX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Providers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: registro de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Microsoft.App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Microsoft.OperationalInsights</a:t>
            </a:r>
            <a:endParaRPr lang="es-MX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Pipeline: ajuste de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ansicolor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, secretos,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Terraform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quality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y verbosidad de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dotnet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publish</a:t>
            </a:r>
            <a:endParaRPr lang="es-MX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Frontend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: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correccion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del proxy para reenviar Host hacia el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backend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interno</a:t>
            </a:r>
            <a:b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</a:b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- </a:t>
            </a:r>
            <a:r>
              <a:rPr lang="es-MX" dirty="0" err="1">
                <a:solidFill>
                  <a:srgbClr val="334155"/>
                </a:solidFill>
                <a:latin typeface="Aptos" panose="020B0004020202020204" pitchFamily="34" charset="0"/>
              </a:rPr>
              <a:t>Register</a:t>
            </a:r>
            <a:r>
              <a:rPr lang="es-MX" dirty="0">
                <a:solidFill>
                  <a:srgbClr val="334155"/>
                </a:solidFill>
                <a:latin typeface="Aptos" panose="020B0004020202020204" pitchFamily="34" charset="0"/>
              </a:rPr>
              <a:t> Imágenes Docker Hub Personal</a:t>
            </a:r>
          </a:p>
        </p:txBody>
      </p:sp>
    </p:spTree>
    <p:extLst>
      <p:ext uri="{BB962C8B-B14F-4D97-AF65-F5344CB8AC3E}">
        <p14:creationId xmlns:p14="http://schemas.microsoft.com/office/powerpoint/2010/main" val="16344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7FCFC75-D9D6-F9F4-FCAE-84530DD847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097CBDC-B4FD-155F-A411-2CE7B8598E6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59BB732-2255-0763-F0EF-329E90C4C5E7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358CBDE-4C17-4590-AD1F-F094AFC54568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Resultados Obtenidos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8417B38-0EE2-6A82-62D0-2AA817C3D1BF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MX" sz="1100">
                <a:solidFill>
                  <a:srgbClr val="E0F2FE"/>
                </a:solidFill>
                <a:latin typeface="Aptos" panose="020B0004020202020204" pitchFamily="34" charset="0"/>
              </a:rPr>
              <a:t>Valor entregado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D173FD3-F892-9B63-55E8-992FD502FCC8}"/>
              </a:ext>
            </a:extLst>
          </p:cNvPr>
          <p:cNvSpPr/>
          <p:nvPr/>
        </p:nvSpPr>
        <p:spPr>
          <a:xfrm>
            <a:off x="711200" y="1320800"/>
            <a:ext cx="31750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A9BEC30-7BCE-3D36-95C5-13DAD3ABCE50}"/>
              </a:ext>
            </a:extLst>
          </p:cNvPr>
          <p:cNvSpPr/>
          <p:nvPr/>
        </p:nvSpPr>
        <p:spPr>
          <a:xfrm>
            <a:off x="711200" y="1320800"/>
            <a:ext cx="88900" cy="1168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CEBFB9F-32C4-F70E-BDB9-D0ED4475D443}"/>
              </a:ext>
            </a:extLst>
          </p:cNvPr>
          <p:cNvSpPr txBox="1"/>
          <p:nvPr/>
        </p:nvSpPr>
        <p:spPr>
          <a:xfrm>
            <a:off x="939800" y="1447800"/>
            <a:ext cx="28194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2563EB"/>
                </a:solidFill>
                <a:latin typeface="Aptos" panose="020B0004020202020204" pitchFamily="34" charset="0"/>
              </a:rPr>
              <a:t>IaC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8D74D45-1DE2-24B7-82C2-33F6B7AA68E5}"/>
              </a:ext>
            </a:extLst>
          </p:cNvPr>
          <p:cNvSpPr txBox="1"/>
          <p:nvPr/>
        </p:nvSpPr>
        <p:spPr>
          <a:xfrm>
            <a:off x="939800" y="1930400"/>
            <a:ext cx="2819400" cy="44114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100">
                <a:solidFill>
                  <a:srgbClr val="64748B"/>
                </a:solidFill>
                <a:latin typeface="Aptos" panose="020B0004020202020204" pitchFamily="34" charset="0"/>
              </a:rPr>
              <a:t>Infraestructura versionada, reproducible y multiambiente</a:t>
            </a:r>
            <a:endParaRPr lang="es-MX" sz="1100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07F096F-DB9A-B84C-AB0B-74E43F23CEFD}"/>
              </a:ext>
            </a:extLst>
          </p:cNvPr>
          <p:cNvSpPr/>
          <p:nvPr/>
        </p:nvSpPr>
        <p:spPr>
          <a:xfrm>
            <a:off x="4521200" y="1320800"/>
            <a:ext cx="31750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E1251A8-AF1B-5949-4AEC-F700DC3F12BA}"/>
              </a:ext>
            </a:extLst>
          </p:cNvPr>
          <p:cNvSpPr/>
          <p:nvPr/>
        </p:nvSpPr>
        <p:spPr>
          <a:xfrm>
            <a:off x="4521200" y="1320800"/>
            <a:ext cx="88900" cy="11684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7878B06-C45A-E418-9D84-1878B3157299}"/>
              </a:ext>
            </a:extLst>
          </p:cNvPr>
          <p:cNvSpPr txBox="1"/>
          <p:nvPr/>
        </p:nvSpPr>
        <p:spPr>
          <a:xfrm>
            <a:off x="4749800" y="1447800"/>
            <a:ext cx="28194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06B6D4"/>
                </a:solidFill>
                <a:latin typeface="Aptos" panose="020B0004020202020204" pitchFamily="34" charset="0"/>
              </a:rPr>
              <a:t>CI/CD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3227784-0336-632D-5325-34F40551F4E0}"/>
              </a:ext>
            </a:extLst>
          </p:cNvPr>
          <p:cNvSpPr txBox="1"/>
          <p:nvPr/>
        </p:nvSpPr>
        <p:spPr>
          <a:xfrm>
            <a:off x="4749800" y="1930400"/>
            <a:ext cx="2819400" cy="44114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100" dirty="0">
                <a:solidFill>
                  <a:srgbClr val="64748B"/>
                </a:solidFill>
                <a:latin typeface="Aptos" panose="020B0004020202020204" pitchFamily="34" charset="0"/>
              </a:rPr>
              <a:t>Build, pruebas, </a:t>
            </a:r>
            <a:r>
              <a:rPr lang="es-EC" sz="1100" dirty="0" err="1">
                <a:solidFill>
                  <a:srgbClr val="64748B"/>
                </a:solidFill>
                <a:latin typeface="Aptos" panose="020B0004020202020204" pitchFamily="34" charset="0"/>
              </a:rPr>
              <a:t>imagenes</a:t>
            </a:r>
            <a:r>
              <a:rPr lang="es-EC" sz="1100" dirty="0">
                <a:solidFill>
                  <a:srgbClr val="64748B"/>
                </a:solidFill>
                <a:latin typeface="Aptos" panose="020B0004020202020204" pitchFamily="34" charset="0"/>
              </a:rPr>
              <a:t> y despliegue automatizado</a:t>
            </a:r>
            <a:endParaRPr lang="es-MX" sz="1100" dirty="0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DCBAE0D-5FD5-6971-7E14-B8A93EEE19D6}"/>
              </a:ext>
            </a:extLst>
          </p:cNvPr>
          <p:cNvSpPr/>
          <p:nvPr/>
        </p:nvSpPr>
        <p:spPr>
          <a:xfrm>
            <a:off x="8331200" y="1320800"/>
            <a:ext cx="31750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AC21235-47AB-317B-F90B-8073E07E5EAA}"/>
              </a:ext>
            </a:extLst>
          </p:cNvPr>
          <p:cNvSpPr/>
          <p:nvPr/>
        </p:nvSpPr>
        <p:spPr>
          <a:xfrm>
            <a:off x="8331200" y="1320800"/>
            <a:ext cx="88900" cy="116840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A6342F8-4FEE-5A93-EB7E-93388B11F5BD}"/>
              </a:ext>
            </a:extLst>
          </p:cNvPr>
          <p:cNvSpPr txBox="1"/>
          <p:nvPr/>
        </p:nvSpPr>
        <p:spPr>
          <a:xfrm>
            <a:off x="8559800" y="1447800"/>
            <a:ext cx="28194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22C55E"/>
                </a:solidFill>
                <a:latin typeface="Aptos" panose="020B0004020202020204" pitchFamily="34" charset="0"/>
              </a:rPr>
              <a:t>Ops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4FFD42B-B258-A364-CD2D-3950C3EBA2F3}"/>
              </a:ext>
            </a:extLst>
          </p:cNvPr>
          <p:cNvSpPr txBox="1"/>
          <p:nvPr/>
        </p:nvSpPr>
        <p:spPr>
          <a:xfrm>
            <a:off x="8559800" y="1930400"/>
            <a:ext cx="2819400" cy="44114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100">
                <a:solidFill>
                  <a:srgbClr val="64748B"/>
                </a:solidFill>
                <a:latin typeface="Aptos" panose="020B0004020202020204" pitchFamily="34" charset="0"/>
              </a:rPr>
              <a:t>Monitoreo, salud, logs y secretos centralizados</a:t>
            </a:r>
            <a:endParaRPr lang="es-MX" sz="1100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16AD2A-FD2A-8FC2-C8D0-112E11FC6366}"/>
              </a:ext>
            </a:extLst>
          </p:cNvPr>
          <p:cNvSpPr txBox="1"/>
          <p:nvPr/>
        </p:nvSpPr>
        <p:spPr>
          <a:xfrm>
            <a:off x="1219200" y="3175000"/>
            <a:ext cx="9652000" cy="164147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2000">
                <a:solidFill>
                  <a:srgbClr val="334155"/>
                </a:solidFill>
                <a:latin typeface="Aptos" panose="020B0004020202020204" pitchFamily="34" charset="0"/>
              </a:rPr>
              <a:t>- Ambiente dev desplegado y operativo en Azure Container Apps</a:t>
            </a:r>
          </a:p>
          <a:p>
            <a:r>
              <a:rPr lang="es-EC" sz="2000">
                <a:solidFill>
                  <a:srgbClr val="334155"/>
                </a:solidFill>
                <a:latin typeface="Aptos" panose="020B0004020202020204" pitchFamily="34" charset="0"/>
              </a:rPr>
              <a:t>- Aplicacion empaquetada en contenedores backend/frontend con tags inmutables</a:t>
            </a:r>
          </a:p>
          <a:p>
            <a:r>
              <a:rPr lang="es-EC" sz="2000">
                <a:solidFill>
                  <a:srgbClr val="334155"/>
                </a:solidFill>
                <a:latin typeface="Aptos" panose="020B0004020202020204" pitchFamily="34" charset="0"/>
              </a:rPr>
              <a:t>- Backend no expuesto publicamente: acceso por proxy desde frontend</a:t>
            </a:r>
          </a:p>
          <a:p>
            <a:r>
              <a:rPr lang="es-EC" sz="2000">
                <a:solidFill>
                  <a:srgbClr val="334155"/>
                </a:solidFill>
                <a:latin typeface="Aptos" panose="020B0004020202020204" pitchFamily="34" charset="0"/>
              </a:rPr>
              <a:t>- Adjuntos fuera de la base de datos y persistentes</a:t>
            </a:r>
          </a:p>
          <a:p>
            <a:r>
              <a:rPr lang="es-EC" sz="2000">
                <a:solidFill>
                  <a:srgbClr val="334155"/>
                </a:solidFill>
                <a:latin typeface="Aptos" panose="020B0004020202020204" pitchFamily="34" charset="0"/>
              </a:rPr>
              <a:t>- Documentacion tecnica, diagramas de arquitectura e informe final disponibles</a:t>
            </a:r>
            <a:endParaRPr lang="es-MX" sz="20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309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B1F5A2F-A5B0-79C8-6D87-58DFC91A24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E84B6B5-84F8-533B-3FF7-16A58F6AB81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7E28BBC-8CCA-819E-9336-39EAB9F65112}"/>
              </a:ext>
            </a:extLst>
          </p:cNvPr>
          <p:cNvSpPr/>
          <p:nvPr/>
        </p:nvSpPr>
        <p:spPr>
          <a:xfrm>
            <a:off x="0" y="736600"/>
            <a:ext cx="12192000" cy="508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5FF0B55-5780-63EC-F834-B3854032064F}"/>
              </a:ext>
            </a:extLst>
          </p:cNvPr>
          <p:cNvSpPr txBox="1"/>
          <p:nvPr/>
        </p:nvSpPr>
        <p:spPr>
          <a:xfrm>
            <a:off x="457200" y="152400"/>
            <a:ext cx="9017000" cy="4719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400" b="1">
                <a:solidFill>
                  <a:srgbClr val="FFFFFF"/>
                </a:solidFill>
                <a:latin typeface="Aptos" panose="020B0004020202020204" pitchFamily="34" charset="0"/>
              </a:rPr>
              <a:t>Recomendaciones y Proximos Pasos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35688EF-F16E-30C8-90AD-7875AD3BC27C}"/>
              </a:ext>
            </a:extLst>
          </p:cNvPr>
          <p:cNvSpPr txBox="1"/>
          <p:nvPr/>
        </p:nvSpPr>
        <p:spPr>
          <a:xfrm>
            <a:off x="9017000" y="215900"/>
            <a:ext cx="2717800" cy="2718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lang="es-MX" sz="1100">
                <a:solidFill>
                  <a:srgbClr val="E0F2FE"/>
                </a:solidFill>
                <a:latin typeface="Aptos" panose="020B0004020202020204" pitchFamily="34" charset="0"/>
              </a:rPr>
              <a:t>Evolucion del piloto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B88C21A-5C97-9D61-D861-3B4F09C9F139}"/>
              </a:ext>
            </a:extLst>
          </p:cNvPr>
          <p:cNvSpPr/>
          <p:nvPr/>
        </p:nvSpPr>
        <p:spPr>
          <a:xfrm>
            <a:off x="736600" y="1371600"/>
            <a:ext cx="50292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93BC738-9EFA-3859-A818-D30CE557F77B}"/>
              </a:ext>
            </a:extLst>
          </p:cNvPr>
          <p:cNvSpPr txBox="1"/>
          <p:nvPr/>
        </p:nvSpPr>
        <p:spPr>
          <a:xfrm>
            <a:off x="1092200" y="1701800"/>
            <a:ext cx="4064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Tecnico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893335E-921E-08EC-A22D-2BED66D064C9}"/>
              </a:ext>
            </a:extLst>
          </p:cNvPr>
          <p:cNvSpPr txBox="1"/>
          <p:nvPr/>
        </p:nvSpPr>
        <p:spPr>
          <a:xfrm>
            <a:off x="1117600" y="2336800"/>
            <a:ext cx="4301688" cy="256480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Completar promoción controlada a test y producción </a:t>
            </a:r>
          </a:p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Formalizar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backups</a:t>
            </a: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restore</a:t>
            </a: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 de PostgreSQL</a:t>
            </a:r>
          </a:p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Agregar escaneo de imágenes y dependencias</a:t>
            </a:r>
          </a:p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Definir alertas SLO para disponibilidad y errores</a:t>
            </a:r>
          </a:p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-Endurecer red, políticas y secretos para producción</a:t>
            </a:r>
          </a:p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Implementar validación con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Sonarqube</a:t>
            </a: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Veracode</a:t>
            </a:r>
            <a:endParaRPr lang="es-MX" sz="16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0ECC93E-12A0-8A16-155A-5F8A3DE3049C}"/>
              </a:ext>
            </a:extLst>
          </p:cNvPr>
          <p:cNvSpPr/>
          <p:nvPr/>
        </p:nvSpPr>
        <p:spPr>
          <a:xfrm>
            <a:off x="6502400" y="1360924"/>
            <a:ext cx="50292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5550B41-7FD5-4508-D639-1B82A37E480A}"/>
              </a:ext>
            </a:extLst>
          </p:cNvPr>
          <p:cNvSpPr txBox="1"/>
          <p:nvPr/>
        </p:nvSpPr>
        <p:spPr>
          <a:xfrm>
            <a:off x="6781800" y="1701800"/>
            <a:ext cx="4064000" cy="42575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MX" sz="2100" b="1">
                <a:solidFill>
                  <a:srgbClr val="0F172A"/>
                </a:solidFill>
                <a:latin typeface="Aptos" panose="020B0004020202020204" pitchFamily="34" charset="0"/>
              </a:rPr>
              <a:t>Gestion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A554233-0001-FBE1-4967-CF5770F01C03}"/>
              </a:ext>
            </a:extLst>
          </p:cNvPr>
          <p:cNvSpPr txBox="1"/>
          <p:nvPr/>
        </p:nvSpPr>
        <p:spPr>
          <a:xfrm>
            <a:off x="6807200" y="2336800"/>
            <a:ext cx="3937000" cy="18261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Completar datos reales de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sprints</a:t>
            </a: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 y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metricas</a:t>
            </a:r>
            <a:endParaRPr lang="es-EC" sz="1600" dirty="0">
              <a:solidFill>
                <a:srgbClr val="334155"/>
              </a:solidFill>
              <a:latin typeface="Aptos" panose="020B0004020202020204" pitchFamily="34" charset="0"/>
            </a:endParaRPr>
          </a:p>
          <a:p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- Documentar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runbooks</a:t>
            </a: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 de incidentes y despliegue</a:t>
            </a:r>
          </a:p>
          <a:p>
            <a:pPr marL="285750" indent="-285750">
              <a:buFontTx/>
              <a:buChar char="-"/>
            </a:pP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Preparar evidencia para auditoria</a:t>
            </a:r>
          </a:p>
          <a:p>
            <a:pPr marL="285750" indent="-285750">
              <a:buFontTx/>
              <a:buChar char="-"/>
            </a:pP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Planificar mejoras de UX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segun</a:t>
            </a:r>
            <a:r>
              <a:rPr lang="es-EC" sz="1600" dirty="0">
                <a:solidFill>
                  <a:srgbClr val="334155"/>
                </a:solidFill>
                <a:latin typeface="Aptos" panose="020B0004020202020204" pitchFamily="34" charset="0"/>
              </a:rPr>
              <a:t> </a:t>
            </a:r>
            <a:r>
              <a:rPr lang="es-EC" sz="1600" dirty="0" err="1">
                <a:solidFill>
                  <a:srgbClr val="334155"/>
                </a:solidFill>
                <a:latin typeface="Aptos" panose="020B0004020202020204" pitchFamily="34" charset="0"/>
              </a:rPr>
              <a:t>retroalimentacion</a:t>
            </a:r>
            <a:endParaRPr lang="es-MX" sz="1600" dirty="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02558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95B1E05-D5DB-936A-7363-5F5D197E11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DAE9B2-5CC8-024B-5E43-5A8D94A654A4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DDA93F6-3B6D-D2A2-381D-6A83A3CDE053}"/>
              </a:ext>
            </a:extLst>
          </p:cNvPr>
          <p:cNvSpPr txBox="1"/>
          <p:nvPr/>
        </p:nvSpPr>
        <p:spPr>
          <a:xfrm>
            <a:off x="1168400" y="1600200"/>
            <a:ext cx="965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lang="es-MX" sz="4000" b="1">
                <a:solidFill>
                  <a:srgbClr val="FFFFFF"/>
                </a:solidFill>
                <a:latin typeface="Aptos" panose="020B0004020202020204" pitchFamily="34" charset="0"/>
              </a:rPr>
              <a:t>Cierre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0907F56-DACD-2F77-B71D-A24A5A9518D9}"/>
              </a:ext>
            </a:extLst>
          </p:cNvPr>
          <p:cNvSpPr txBox="1"/>
          <p:nvPr/>
        </p:nvSpPr>
        <p:spPr>
          <a:xfrm>
            <a:off x="1651000" y="2794000"/>
            <a:ext cx="8890000" cy="125675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lang="es-EC" sz="2500">
                <a:solidFill>
                  <a:srgbClr val="E0F2FE"/>
                </a:solidFill>
                <a:latin typeface="Aptos" panose="020B0004020202020204" pitchFamily="34" charset="0"/>
              </a:rPr>
              <a:t>El proyecto demuestra una cadena DevOps integral: backlog priorizado, aplicacion funcional, infraestructura como codigo, CI/CD multiambiente y observabilidad operativa en Azure.</a:t>
            </a:r>
            <a:endParaRPr lang="es-MX" sz="2500">
              <a:solidFill>
                <a:srgbClr val="E0F2FE"/>
              </a:solidFill>
              <a:latin typeface="Aptos" panose="020B00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3EA4BD1-DC81-7962-8AD3-F8AA58A7B1B8}"/>
              </a:ext>
            </a:extLst>
          </p:cNvPr>
          <p:cNvSpPr txBox="1"/>
          <p:nvPr/>
        </p:nvSpPr>
        <p:spPr>
          <a:xfrm>
            <a:off x="4318000" y="4953000"/>
            <a:ext cx="3556000" cy="5334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lang="es-MX" sz="2800" b="1">
                <a:solidFill>
                  <a:srgbClr val="FFFFFF"/>
                </a:solidFill>
                <a:latin typeface="Aptos" panose="020B0004020202020204" pitchFamily="34" charset="0"/>
              </a:rPr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2163226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103</TotalTime>
  <Words>886</Words>
  <Application>Microsoft Office PowerPoint</Application>
  <PresentationFormat>Panorámica</PresentationFormat>
  <Paragraphs>131</Paragraphs>
  <Slides>16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Century Gothic</vt:lpstr>
      <vt:lpstr>Wingdings 3</vt:lpstr>
      <vt:lpstr>Ion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armando chavez</dc:creator>
  <cp:lastModifiedBy>armando chavez</cp:lastModifiedBy>
  <cp:revision>7</cp:revision>
  <dcterms:created xsi:type="dcterms:W3CDTF">2026-04-08T01:25:16Z</dcterms:created>
  <dcterms:modified xsi:type="dcterms:W3CDTF">2026-04-14T23:29:19Z</dcterms:modified>
</cp:coreProperties>
</file>