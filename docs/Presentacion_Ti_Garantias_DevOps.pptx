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58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5" r:id="rId13"/>
    <p:sldId id="267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08" autoAdjust="0"/>
  </p:normalViewPr>
  <p:slideViewPr>
    <p:cSldViewPr snapToGrid="0" showGuides="1">
      <p:cViewPr varScale="1">
        <p:scale>
          <a:sx n="114" d="100"/>
          <a:sy n="114" d="100"/>
        </p:scale>
        <p:origin x="3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32D13-FF59-4809-A92A-AFAC17D8C0DC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49D93-4FDE-4777-8A7C-8DF4719709A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1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49D93-4FDE-4777-8A7C-8DF4719709A3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3276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171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129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5653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060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739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708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457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013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798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5574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872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122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4847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818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7734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316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1693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09A7A65-997B-42A6-B092-B1775680AF95}" type="datetimeFigureOut">
              <a:rPr lang="es-MX" smtClean="0"/>
              <a:t>07/04/2026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2C6AB-B300-4C61-9D8E-D1FE4E8D694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132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8B76E31-203E-D67A-A99E-CC004B70CE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D5CC6FA-8371-2260-B5FD-A0075F9EE112}"/>
              </a:ext>
            </a:extLst>
          </p:cNvPr>
          <p:cNvSpPr/>
          <p:nvPr/>
        </p:nvSpPr>
        <p:spPr>
          <a:xfrm>
            <a:off x="0" y="4978400"/>
            <a:ext cx="12192000" cy="1879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7374087-FB8A-9131-6DD3-40C6B5050BAC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07B3A30-EE52-2C2D-F7E7-CDCCC6E02E75}"/>
              </a:ext>
            </a:extLst>
          </p:cNvPr>
          <p:cNvSpPr txBox="1"/>
          <p:nvPr/>
        </p:nvSpPr>
        <p:spPr>
          <a:xfrm>
            <a:off x="889000" y="1219200"/>
            <a:ext cx="9906000" cy="77970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Aptos" panose="020B0004020202020204" pitchFamily="34" charset="0"/>
              </a:rPr>
              <a:t>TI Garantias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69551A-21F3-E0B3-BE6C-2D734715B4CD}"/>
              </a:ext>
            </a:extLst>
          </p:cNvPr>
          <p:cNvSpPr txBox="1"/>
          <p:nvPr/>
        </p:nvSpPr>
        <p:spPr>
          <a:xfrm>
            <a:off x="914400" y="2209800"/>
            <a:ext cx="9779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>
                <a:solidFill>
                  <a:srgbClr val="E0F2FE"/>
                </a:solidFill>
                <a:latin typeface="Aptos" panose="020B0004020202020204" pitchFamily="34" charset="0"/>
              </a:rPr>
              <a:t>Portal Interno de Garantias, Retenciones y Devolucion de TI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3F3371-50B2-B80D-57FB-87C2B932F138}"/>
              </a:ext>
            </a:extLst>
          </p:cNvPr>
          <p:cNvSpPr txBox="1"/>
          <p:nvPr/>
        </p:nvSpPr>
        <p:spPr>
          <a:xfrm>
            <a:off x="914400" y="3175000"/>
            <a:ext cx="66040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>
                <a:solidFill>
                  <a:srgbClr val="FFFFFF"/>
                </a:solidFill>
                <a:latin typeface="Aptos" panose="020B0004020202020204" pitchFamily="34" charset="0"/>
              </a:rPr>
              <a:t>Proyecto final - Practicas DevOps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64EEE22-C09C-99E1-7789-C04C57560CE2}"/>
              </a:ext>
            </a:extLst>
          </p:cNvPr>
          <p:cNvSpPr txBox="1"/>
          <p:nvPr/>
        </p:nvSpPr>
        <p:spPr>
          <a:xfrm>
            <a:off x="914400" y="5257800"/>
            <a:ext cx="9144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>
                <a:solidFill>
                  <a:srgbClr val="FFFFFF"/>
                </a:solidFill>
                <a:latin typeface="Aptos" panose="020B0004020202020204" pitchFamily="34" charset="0"/>
              </a:rPr>
              <a:t>Grupo 1: Armando Chavez, Geovanny Robles, Guido Vallejo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2F1637F-A717-F1F4-8618-79B612278519}"/>
              </a:ext>
            </a:extLst>
          </p:cNvPr>
          <p:cNvSpPr txBox="1"/>
          <p:nvPr/>
        </p:nvSpPr>
        <p:spPr>
          <a:xfrm>
            <a:off x="914400" y="5867400"/>
            <a:ext cx="96520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de-DE" sz="1400">
                <a:solidFill>
                  <a:srgbClr val="E0F2FE"/>
                </a:solidFill>
                <a:latin typeface="Aptos" panose="020B0004020202020204" pitchFamily="34" charset="0"/>
              </a:rPr>
              <a:t>Angular + .NET 8 + PostgreSQL + Docker + Terraform + Jenkins + Azure</a:t>
            </a:r>
            <a:endParaRPr lang="es-MX" sz="14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78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E9C957-6684-7358-5964-90B1468738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2881752-05A2-3736-D46D-CB123E42248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8787A0-64DC-D7D3-F83F-9AE845418CB3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AB30EFD-F899-0B38-DB5C-AFCCCE9C5183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Contexto y Objetivo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979B259-E125-978D-DC38-588C0EEA38A6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Que problema resolvemos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2502F16-6416-78C2-D85F-A98AFB984BE0}"/>
              </a:ext>
            </a:extLst>
          </p:cNvPr>
          <p:cNvSpPr/>
          <p:nvPr/>
        </p:nvSpPr>
        <p:spPr>
          <a:xfrm>
            <a:off x="812800" y="1422400"/>
            <a:ext cx="49784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921AA7B-B7E0-C183-603C-959BB6A8B733}"/>
              </a:ext>
            </a:extLst>
          </p:cNvPr>
          <p:cNvSpPr txBox="1"/>
          <p:nvPr/>
        </p:nvSpPr>
        <p:spPr>
          <a:xfrm>
            <a:off x="1168400" y="17526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Situacion inicial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317D27F-1476-F24E-C6AB-1B2467433CFD}"/>
              </a:ext>
            </a:extLst>
          </p:cNvPr>
          <p:cNvSpPr txBox="1"/>
          <p:nvPr/>
        </p:nvSpPr>
        <p:spPr>
          <a:xfrm>
            <a:off x="1117600" y="2362200"/>
            <a:ext cx="4191000" cy="219547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Procesos de garantías, retenciones y devoluciones con trazabilidad limitada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Necesidad de centralizar facturas, contratos, entregables.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Riesgo operativo al depender de despliegues manuales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Falta de visibilidad rápida sobre salud, métricas y logs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809BAFA-03B9-1F4C-DE67-2C2836145AF8}"/>
              </a:ext>
            </a:extLst>
          </p:cNvPr>
          <p:cNvSpPr/>
          <p:nvPr/>
        </p:nvSpPr>
        <p:spPr>
          <a:xfrm>
            <a:off x="6400800" y="1422400"/>
            <a:ext cx="4978400" cy="3835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41A5B81-FD1E-7ABD-B3FE-DF96068ECC9D}"/>
              </a:ext>
            </a:extLst>
          </p:cNvPr>
          <p:cNvSpPr txBox="1"/>
          <p:nvPr/>
        </p:nvSpPr>
        <p:spPr>
          <a:xfrm>
            <a:off x="6756400" y="17526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Objetivo del piloto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F24EBBB-E379-4B7C-D2A4-2FA634F34ED8}"/>
              </a:ext>
            </a:extLst>
          </p:cNvPr>
          <p:cNvSpPr txBox="1"/>
          <p:nvPr/>
        </p:nvSpPr>
        <p:spPr>
          <a:xfrm>
            <a:off x="6794500" y="2462068"/>
            <a:ext cx="4191000" cy="193386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Construir un portal interno seguro y auditable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Automatizar Build, pruebas, empaquetado y despliegue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Manejar infraestructura como Código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Operar en Azure Container Apps con monitoreo y secretos centralizados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37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0318-FB7A-F2A5-02EE-D798F32F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C5429F-7A78-A6BC-F2C3-1E9304345D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2991B9-614F-AB6A-3E76-9938C445EE1F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C6B5710-D569-D71E-7BEA-01A7B2D654C4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7A76853-C8BE-E0E2-5B50-C7A8108D81C8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 dirty="0" err="1">
                <a:solidFill>
                  <a:srgbClr val="FFFFFF"/>
                </a:solidFill>
                <a:latin typeface="Aptos" panose="020B0004020202020204" pitchFamily="34" charset="0"/>
              </a:rPr>
              <a:t>Solucion</a:t>
            </a:r>
            <a:r>
              <a:rPr lang="es-MX" sz="2400" b="1" dirty="0">
                <a:solidFill>
                  <a:srgbClr val="FFFFFF"/>
                </a:solidFill>
                <a:latin typeface="Aptos" panose="020B0004020202020204" pitchFamily="34" charset="0"/>
              </a:rPr>
              <a:t> Propuesta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FE4C4C-49E3-DF9A-120E-10B4B3942C41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Que problema resolvemos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3F17A99-5C41-0EB8-E0DB-DC6F48D67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74" y="835615"/>
            <a:ext cx="11299049" cy="59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2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6897CF5-4FA3-5A57-69BC-0D0C29A03D25}"/>
              </a:ext>
            </a:extLst>
          </p:cNvPr>
          <p:cNvSpPr/>
          <p:nvPr/>
        </p:nvSpPr>
        <p:spPr>
          <a:xfrm>
            <a:off x="1270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FEA557-A872-2192-D5A1-759776046D66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CC93202-496F-345B-CC01-7FD7C0B0FBB9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31E99C-C8C3-6316-DCB1-2D5871AB4491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pt-BR" b="1" dirty="0"/>
              <a:t>Ti Garantias - </a:t>
            </a:r>
            <a:r>
              <a:rPr lang="pt-BR" b="1" dirty="0" err="1"/>
              <a:t>Arquitectura</a:t>
            </a:r>
            <a:r>
              <a:rPr lang="pt-BR" b="1" dirty="0"/>
              <a:t> </a:t>
            </a:r>
            <a:r>
              <a:rPr lang="pt-BR" b="1" dirty="0" err="1"/>
              <a:t>Ejecutiva</a:t>
            </a:r>
            <a:r>
              <a:rPr lang="pt-BR" b="1" dirty="0"/>
              <a:t> (v1)</a:t>
            </a:r>
            <a:endParaRPr lang="es-MX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2294F3B2-C50B-9073-153A-9EDDCA60C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808236"/>
            <a:ext cx="9894698" cy="5998964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53BDB9D-A25B-9A69-0C1C-67F53EDD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898" y="1247736"/>
            <a:ext cx="800212" cy="276264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41E1271B-BE8E-8238-AC03-3D7B53C30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139" y="1873183"/>
            <a:ext cx="1965820" cy="69542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E868A42-A943-26AF-644A-C0F4A6F10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7121" y="3717816"/>
            <a:ext cx="2019582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3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3664D59-5216-F9EA-56F7-F932CDA19F89}"/>
              </a:ext>
            </a:extLst>
          </p:cNvPr>
          <p:cNvSpPr/>
          <p:nvPr/>
        </p:nvSpPr>
        <p:spPr>
          <a:xfrm>
            <a:off x="0" y="33789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7F7CDD-6A21-6318-BA7B-16E7DD90D709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A72C7F1-9178-1706-5C64-FDCDFAD76505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B595D33-0E1A-5D01-102B-74CF26B5C319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Stack Tecnico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2160E4-528D-39A0-5719-D0EAED51FCA8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Componentes principales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5C941A5-CABE-EC7B-8B90-C3012ABB3ACD}"/>
              </a:ext>
            </a:extLst>
          </p:cNvPr>
          <p:cNvSpPr/>
          <p:nvPr/>
        </p:nvSpPr>
        <p:spPr>
          <a:xfrm>
            <a:off x="0" y="1524000"/>
            <a:ext cx="2021746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6BF1FCC-9248-279A-1279-A56B4672266A}"/>
              </a:ext>
            </a:extLst>
          </p:cNvPr>
          <p:cNvSpPr/>
          <p:nvPr/>
        </p:nvSpPr>
        <p:spPr>
          <a:xfrm>
            <a:off x="0" y="1462524"/>
            <a:ext cx="2021746" cy="1016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D3CC69-B0A9-20BF-AC33-A69AB0B5932C}"/>
              </a:ext>
            </a:extLst>
          </p:cNvPr>
          <p:cNvSpPr txBox="1"/>
          <p:nvPr/>
        </p:nvSpPr>
        <p:spPr>
          <a:xfrm>
            <a:off x="368300" y="1672542"/>
            <a:ext cx="2108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 dirty="0" err="1">
                <a:solidFill>
                  <a:srgbClr val="0F172A"/>
                </a:solidFill>
                <a:latin typeface="Aptos" panose="020B0004020202020204" pitchFamily="34" charset="0"/>
              </a:rPr>
              <a:t>Frontend</a:t>
            </a:r>
            <a:endParaRPr lang="es-MX" sz="20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0EF38E6-EAD0-B78B-B7ED-6CC710D3A70C}"/>
              </a:ext>
            </a:extLst>
          </p:cNvPr>
          <p:cNvSpPr txBox="1"/>
          <p:nvPr/>
        </p:nvSpPr>
        <p:spPr>
          <a:xfrm>
            <a:off x="273049" y="2362248"/>
            <a:ext cx="1748697" cy="141064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Angular 20</a:t>
            </a: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Angular Material</a:t>
            </a:r>
          </a:p>
          <a:p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Nginx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proxy</a:t>
            </a: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Variables por ambiente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733BEFA-C9FD-4EC0-8F65-7FBF237B11BB}"/>
              </a:ext>
            </a:extLst>
          </p:cNvPr>
          <p:cNvSpPr/>
          <p:nvPr/>
        </p:nvSpPr>
        <p:spPr>
          <a:xfrm>
            <a:off x="2241550" y="1498600"/>
            <a:ext cx="1877154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0F86E0-460D-521D-AC14-019E4D7532E6}"/>
              </a:ext>
            </a:extLst>
          </p:cNvPr>
          <p:cNvSpPr/>
          <p:nvPr/>
        </p:nvSpPr>
        <p:spPr>
          <a:xfrm>
            <a:off x="2241550" y="1462524"/>
            <a:ext cx="1877154" cy="1016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C7B2A2-9E18-E881-FAE7-EC086F8EECE2}"/>
              </a:ext>
            </a:extLst>
          </p:cNvPr>
          <p:cNvSpPr txBox="1"/>
          <p:nvPr/>
        </p:nvSpPr>
        <p:spPr>
          <a:xfrm>
            <a:off x="2476500" y="1670391"/>
            <a:ext cx="2108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 dirty="0" err="1">
                <a:solidFill>
                  <a:srgbClr val="0F172A"/>
                </a:solidFill>
                <a:latin typeface="Aptos" panose="020B0004020202020204" pitchFamily="34" charset="0"/>
              </a:rPr>
              <a:t>Backend</a:t>
            </a:r>
            <a:endParaRPr lang="es-MX" sz="2000" b="1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766978-3A86-AE38-B985-32626CCBBD4D}"/>
              </a:ext>
            </a:extLst>
          </p:cNvPr>
          <p:cNvSpPr txBox="1"/>
          <p:nvPr/>
        </p:nvSpPr>
        <p:spPr>
          <a:xfrm>
            <a:off x="2400300" y="2448247"/>
            <a:ext cx="1458636" cy="141064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ASP.NET Core .NET 8</a:t>
            </a: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EF Core</a:t>
            </a: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JWT + RBAC</a:t>
            </a:r>
          </a:p>
          <a:p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Hangfire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CF08E3B-9B7E-7035-1FFB-4E2EFD9DE362}"/>
              </a:ext>
            </a:extLst>
          </p:cNvPr>
          <p:cNvSpPr/>
          <p:nvPr/>
        </p:nvSpPr>
        <p:spPr>
          <a:xfrm>
            <a:off x="4319223" y="1506145"/>
            <a:ext cx="1785808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A0B265-A8D2-3C52-4CAA-FD7FB0E2E844}"/>
              </a:ext>
            </a:extLst>
          </p:cNvPr>
          <p:cNvSpPr/>
          <p:nvPr/>
        </p:nvSpPr>
        <p:spPr>
          <a:xfrm>
            <a:off x="4358781" y="1455345"/>
            <a:ext cx="1737220" cy="108779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3EAC6A2-B5D6-B01C-087F-9D7092D6026E}"/>
              </a:ext>
            </a:extLst>
          </p:cNvPr>
          <p:cNvSpPr txBox="1"/>
          <p:nvPr/>
        </p:nvSpPr>
        <p:spPr>
          <a:xfrm>
            <a:off x="4655891" y="1670390"/>
            <a:ext cx="1440109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 dirty="0">
                <a:solidFill>
                  <a:srgbClr val="0F172A"/>
                </a:solidFill>
                <a:latin typeface="Aptos" panose="020B0004020202020204" pitchFamily="34" charset="0"/>
              </a:rPr>
              <a:t>Datos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74B39F0-EE63-16A1-07E2-0D1E63828401}"/>
              </a:ext>
            </a:extLst>
          </p:cNvPr>
          <p:cNvSpPr txBox="1"/>
          <p:nvPr/>
        </p:nvSpPr>
        <p:spPr>
          <a:xfrm>
            <a:off x="4358781" y="2409134"/>
            <a:ext cx="2057400" cy="141064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PostgreSQL 16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Schema core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Adjuntos fuera de BD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Azure Files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D0EB701-CFF8-AE1C-4828-99B0A7A33DB1}"/>
              </a:ext>
            </a:extLst>
          </p:cNvPr>
          <p:cNvSpPr/>
          <p:nvPr/>
        </p:nvSpPr>
        <p:spPr>
          <a:xfrm>
            <a:off x="6336078" y="1524000"/>
            <a:ext cx="2137503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FDE2D1B-4435-A602-65C8-9E70994716FA}"/>
              </a:ext>
            </a:extLst>
          </p:cNvPr>
          <p:cNvSpPr/>
          <p:nvPr/>
        </p:nvSpPr>
        <p:spPr>
          <a:xfrm>
            <a:off x="6380527" y="1455345"/>
            <a:ext cx="2137503" cy="93225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EBFCBE3-8240-6942-EF71-07FD0FEC10FB}"/>
              </a:ext>
            </a:extLst>
          </p:cNvPr>
          <p:cNvSpPr txBox="1"/>
          <p:nvPr/>
        </p:nvSpPr>
        <p:spPr>
          <a:xfrm>
            <a:off x="6908800" y="1676439"/>
            <a:ext cx="2108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 dirty="0">
                <a:solidFill>
                  <a:srgbClr val="0F172A"/>
                </a:solidFill>
                <a:latin typeface="Aptos" panose="020B0004020202020204" pitchFamily="34" charset="0"/>
              </a:rPr>
              <a:t>DevOps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CF003B4-073A-696B-8E76-1D9050941485}"/>
              </a:ext>
            </a:extLst>
          </p:cNvPr>
          <p:cNvSpPr txBox="1"/>
          <p:nvPr/>
        </p:nvSpPr>
        <p:spPr>
          <a:xfrm>
            <a:off x="6438406" y="2448246"/>
            <a:ext cx="2057400" cy="141064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Docker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Compose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Jenkins</a:t>
            </a:r>
          </a:p>
          <a:p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Grafana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GitHub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Actions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Terraform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+ Azure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17145A6-19C9-7273-77A2-C48F5686CB29}"/>
              </a:ext>
            </a:extLst>
          </p:cNvPr>
          <p:cNvSpPr/>
          <p:nvPr/>
        </p:nvSpPr>
        <p:spPr>
          <a:xfrm>
            <a:off x="9105784" y="1486023"/>
            <a:ext cx="2137503" cy="358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4A7A4D2-0679-7303-7742-EA1E9DAC3A7E}"/>
              </a:ext>
            </a:extLst>
          </p:cNvPr>
          <p:cNvSpPr/>
          <p:nvPr/>
        </p:nvSpPr>
        <p:spPr>
          <a:xfrm>
            <a:off x="9123494" y="1439411"/>
            <a:ext cx="2137503" cy="93225"/>
          </a:xfrm>
          <a:prstGeom prst="rect">
            <a:avLst/>
          </a:prstGeom>
          <a:solidFill>
            <a:srgbClr val="FF0000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4B4DB54-D392-7FF8-678F-0208B665288F}"/>
              </a:ext>
            </a:extLst>
          </p:cNvPr>
          <p:cNvSpPr txBox="1"/>
          <p:nvPr/>
        </p:nvSpPr>
        <p:spPr>
          <a:xfrm>
            <a:off x="9474200" y="1670390"/>
            <a:ext cx="2108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000" b="1" dirty="0">
                <a:solidFill>
                  <a:srgbClr val="0F172A"/>
                </a:solidFill>
                <a:latin typeface="Aptos" panose="020B0004020202020204" pitchFamily="34" charset="0"/>
              </a:rPr>
              <a:t>Monitoreo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2C955E7-5648-4619-E049-095D18803EF5}"/>
              </a:ext>
            </a:extLst>
          </p:cNvPr>
          <p:cNvSpPr txBox="1"/>
          <p:nvPr/>
        </p:nvSpPr>
        <p:spPr>
          <a:xfrm>
            <a:off x="9145835" y="2362247"/>
            <a:ext cx="2057400" cy="141064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Grafana</a:t>
            </a:r>
            <a:b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</a:b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Prometeus</a:t>
            </a:r>
            <a:b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</a:b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Loki</a:t>
            </a:r>
            <a:b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</a:b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Promtail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CAdvisor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50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1D493A0-3089-A624-DC41-508330407A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87C2402-9923-0DD6-A6C7-F88BE1483C4C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DE1874-EF25-5958-9E32-7718AA39EA70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1FD3F9-6464-74D9-82BF-AE569FF6DCB6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Gestion de Backlog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A097E9-2168-C474-8241-465A36AEAC23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EC" sz="1100">
                <a:solidFill>
                  <a:srgbClr val="E0F2FE"/>
                </a:solidFill>
                <a:latin typeface="Aptos" panose="020B0004020202020204" pitchFamily="34" charset="0"/>
              </a:rPr>
              <a:t>Trabajo organizado con enfoque agil</a:t>
            </a:r>
            <a:endParaRPr lang="es-MX" sz="11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C626A31-D7B5-6468-A248-4AE34371510E}"/>
              </a:ext>
            </a:extLst>
          </p:cNvPr>
          <p:cNvSpPr/>
          <p:nvPr/>
        </p:nvSpPr>
        <p:spPr>
          <a:xfrm>
            <a:off x="711200" y="1397000"/>
            <a:ext cx="5207000" cy="398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C2A220B-A28A-ECA3-9BE8-3ADEA4A781E1}"/>
              </a:ext>
            </a:extLst>
          </p:cNvPr>
          <p:cNvSpPr txBox="1"/>
          <p:nvPr/>
        </p:nvSpPr>
        <p:spPr>
          <a:xfrm>
            <a:off x="1041400" y="17272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Epicas principales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3B6509-16E0-9B0F-73EB-6C9F40A06048}"/>
              </a:ext>
            </a:extLst>
          </p:cNvPr>
          <p:cNvSpPr txBox="1"/>
          <p:nvPr/>
        </p:nvSpPr>
        <p:spPr>
          <a:xfrm>
            <a:off x="1041400" y="2336800"/>
            <a:ext cx="4292600" cy="194925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Modelo de dominio y base de datos</a:t>
            </a:r>
          </a:p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Autenticacion, usuarios y roles (RBAC)</a:t>
            </a:r>
          </a:p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Backend core: proveedores, contratos, entregables y facturas</a:t>
            </a:r>
          </a:p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Frontend Angular</a:t>
            </a:r>
          </a:p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Observabilidad</a:t>
            </a:r>
          </a:p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Contenedores, CI/CD e IaC multiambiente</a:t>
            </a:r>
          </a:p>
          <a:p>
            <a:r>
              <a:rPr lang="es-EC" sz="1500">
                <a:solidFill>
                  <a:srgbClr val="334155"/>
                </a:solidFill>
                <a:latin typeface="Aptos" panose="020B0004020202020204" pitchFamily="34" charset="0"/>
              </a:rPr>
              <a:t>- Documentacion, informe y demo</a:t>
            </a:r>
            <a:endParaRPr lang="es-MX" sz="15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F3BD42D-7FE4-7AE7-BFE0-FB07D5D862BA}"/>
              </a:ext>
            </a:extLst>
          </p:cNvPr>
          <p:cNvSpPr/>
          <p:nvPr/>
        </p:nvSpPr>
        <p:spPr>
          <a:xfrm>
            <a:off x="6527800" y="1397000"/>
            <a:ext cx="4953000" cy="398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0EB06C-B9AA-76E2-4835-18B6B82A4AB9}"/>
              </a:ext>
            </a:extLst>
          </p:cNvPr>
          <p:cNvSpPr txBox="1"/>
          <p:nvPr/>
        </p:nvSpPr>
        <p:spPr>
          <a:xfrm>
            <a:off x="6858000" y="17272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Calidad y seguimiento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D57F600-36A5-D86D-1A9C-52DA171D6CC2}"/>
              </a:ext>
            </a:extLst>
          </p:cNvPr>
          <p:cNvSpPr txBox="1"/>
          <p:nvPr/>
        </p:nvSpPr>
        <p:spPr>
          <a:xfrm>
            <a:off x="6858000" y="2336800"/>
            <a:ext cx="3962400" cy="219547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Priorización por valor, dependencias, esfuerzo y riesgo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EC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Definition</a:t>
            </a:r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EC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of</a:t>
            </a:r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 Done con PR, pruebas, despliegue y documentación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Métricas: velocidad, lead time, </a:t>
            </a:r>
            <a:r>
              <a:rPr lang="es-EC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cycle</a:t>
            </a:r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 time y retrabajo</a:t>
            </a:r>
          </a:p>
          <a:p>
            <a:r>
              <a:rPr lang="es-EC" sz="1700" dirty="0">
                <a:solidFill>
                  <a:srgbClr val="334155"/>
                </a:solidFill>
                <a:latin typeface="Aptos" panose="020B0004020202020204" pitchFamily="34" charset="0"/>
              </a:rPr>
              <a:t>- Kanban para visibilidad de Tareas y priorizar 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32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BDD376B-B34F-8AFC-6068-ED5583E73F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F229EF-DEC1-D802-3D0F-46924F2F49C1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4D6D40A-C022-01A0-FB6C-B01CDE4F1B85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D6105E-EDE3-A106-8E52-3EB7166459DD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b="1" dirty="0"/>
              <a:t>Ti Garantías - Arquitectura Ejecutiva</a:t>
            </a:r>
            <a:endParaRPr lang="es-MX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B0D6F0-949B-1AE6-791C-FC037ABE00FD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Vista ejecutiva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27B157B-AAB2-9536-8CA3-1E5B189B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44" y="889000"/>
            <a:ext cx="10242958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76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86B8B61-6590-6D4C-360B-5D4419B1D6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BE28D1-0209-A53C-89E8-E26A9C8A418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BB0C6CC-EF96-A3F6-E51C-0409ECB64DD5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238BE9-F028-272B-1909-5A971BB9EBDB}"/>
              </a:ext>
            </a:extLst>
          </p:cNvPr>
          <p:cNvSpPr txBox="1"/>
          <p:nvPr/>
        </p:nvSpPr>
        <p:spPr>
          <a:xfrm>
            <a:off x="482367" y="14628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b="1" noProof="0" dirty="0"/>
              <a:t>Ti Garantías - Arquitectura Técnica Detallada (v2.1)</a:t>
            </a:r>
            <a:endParaRPr lang="es-EC" sz="2400" b="1" noProof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81452F-527A-192D-18F4-914B7F84E98D}"/>
              </a:ext>
            </a:extLst>
          </p:cNvPr>
          <p:cNvSpPr txBox="1"/>
          <p:nvPr/>
        </p:nvSpPr>
        <p:spPr>
          <a:xfrm>
            <a:off x="1016000" y="1803400"/>
            <a:ext cx="16256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EC" sz="1400" b="1" noProof="0" dirty="0" err="1">
                <a:solidFill>
                  <a:srgbClr val="FFFFFF"/>
                </a:solidFill>
                <a:latin typeface="Aptos" panose="020B0004020202020204" pitchFamily="34" charset="0"/>
              </a:rPr>
              <a:t>shared</a:t>
            </a:r>
            <a:endParaRPr lang="es-EC" sz="1400" b="1" noProof="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C30AF7-D93B-727E-5E5C-97545608CE91}"/>
              </a:ext>
            </a:extLst>
          </p:cNvPr>
          <p:cNvSpPr txBox="1"/>
          <p:nvPr/>
        </p:nvSpPr>
        <p:spPr>
          <a:xfrm>
            <a:off x="6096000" y="1803400"/>
            <a:ext cx="1625600" cy="31803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EC" sz="1400" b="1" noProof="0" dirty="0">
                <a:solidFill>
                  <a:srgbClr val="FFFFFF"/>
                </a:solidFill>
                <a:latin typeface="Aptos" panose="020B0004020202020204" pitchFamily="34" charset="0"/>
              </a:rPr>
              <a:t>test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76495CC9-CEB2-FB7F-DE05-0FA7F73A9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099" y="1208858"/>
            <a:ext cx="12192000" cy="543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4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E0C93C6-2F9D-2DC9-900F-B7E42510A1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41FB281-9973-FAD9-2FC1-B74DA32DC0AB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B164E6-FE8F-EC73-0B1B-85EC46AD18A8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534F0B-F51E-C9F3-8BC2-41E3059B86CC}"/>
              </a:ext>
            </a:extLst>
          </p:cNvPr>
          <p:cNvSpPr txBox="1"/>
          <p:nvPr/>
        </p:nvSpPr>
        <p:spPr>
          <a:xfrm>
            <a:off x="457200" y="140032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b="1" dirty="0"/>
              <a:t>Ti Garantías - Inventario Resource</a:t>
            </a:r>
            <a:endParaRPr lang="es-MX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63FA4600-9116-AD0E-E1B4-DAEAB1928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0" y="776724"/>
            <a:ext cx="12112340" cy="58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109CBBE-CBF0-58EB-DEBF-79325430EC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C59990-6BF1-D5C7-BAB8-C9769F96AD2B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5D01FC-B4CE-FFFF-2FDA-DD2F38936915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519837-3EDC-8445-9E66-147390309D22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b="1" dirty="0"/>
              <a:t> Arquitectura Full Detail</a:t>
            </a:r>
            <a:endParaRPr lang="es-MX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DDDC1D-FD8B-4CBD-98B6-39610A8D1BB5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EC" sz="1100">
                <a:solidFill>
                  <a:srgbClr val="E0F2FE"/>
                </a:solidFill>
                <a:latin typeface="Aptos" panose="020B0004020202020204" pitchFamily="34" charset="0"/>
              </a:rPr>
              <a:t>Metricas, logs y salud de la aplicacion</a:t>
            </a:r>
            <a:endParaRPr lang="es-MX" sz="11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1AD4C21-B4B2-6140-CE04-BFD6F1347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4" y="800100"/>
            <a:ext cx="10475745" cy="595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45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70E9C25-1052-545B-F5CD-A228035753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C4D7A9-2989-5D07-BBA3-C7FA393D81B6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BAB9E6-9830-07A9-D34E-3CBBB4244E5D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02D434-2768-1B29-6CEE-674E47B38182}"/>
              </a:ext>
            </a:extLst>
          </p:cNvPr>
          <p:cNvSpPr txBox="1"/>
          <p:nvPr/>
        </p:nvSpPr>
        <p:spPr>
          <a:xfrm>
            <a:off x="457200" y="152400"/>
            <a:ext cx="9017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b="1" dirty="0"/>
              <a:t>Ti </a:t>
            </a:r>
            <a:r>
              <a:rPr lang="es-MX" b="1" dirty="0" err="1"/>
              <a:t>Garantias</a:t>
            </a:r>
            <a:r>
              <a:rPr lang="es-MX" b="1" dirty="0"/>
              <a:t> - C4 </a:t>
            </a:r>
            <a:r>
              <a:rPr lang="es-MX" b="1" dirty="0" err="1"/>
              <a:t>Architecture</a:t>
            </a:r>
            <a:endParaRPr lang="es-MX" sz="24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675FCF4-B1C1-1F25-A767-E61A40BA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524"/>
            <a:ext cx="12192000" cy="580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206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A10837C-6558-37F1-166C-658FCFEDF1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2E7D23-AC7A-B8D4-F40C-0DB6CE5757AE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2AF463-FE37-18A9-647E-D05868E173BF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BCC71A-E110-9EF8-8270-557AABF93235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Pipeline CI/CD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64F441-1085-6072-233B-6F1A1B6D5BE5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Validacion continua + despliegue continuo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3B14137-412C-2D9B-6AAA-5B336EC3E94D}"/>
              </a:ext>
            </a:extLst>
          </p:cNvPr>
          <p:cNvSpPr/>
          <p:nvPr/>
        </p:nvSpPr>
        <p:spPr>
          <a:xfrm>
            <a:off x="660400" y="1346200"/>
            <a:ext cx="5003800" cy="30844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B0D882-284A-6F4A-BA8F-DD8AD7275FE3}"/>
              </a:ext>
            </a:extLst>
          </p:cNvPr>
          <p:cNvSpPr txBox="1"/>
          <p:nvPr/>
        </p:nvSpPr>
        <p:spPr>
          <a:xfrm>
            <a:off x="1041400" y="1676400"/>
            <a:ext cx="3810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CI - GitHub Actions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25591A-5C2B-F84C-DB9E-D6BCB66114E3}"/>
              </a:ext>
            </a:extLst>
          </p:cNvPr>
          <p:cNvSpPr txBox="1"/>
          <p:nvPr/>
        </p:nvSpPr>
        <p:spPr>
          <a:xfrm>
            <a:off x="1066800" y="2286000"/>
            <a:ext cx="3937000" cy="193386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- Checkout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- Backend .NET 8: restore, build y tests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- Frontend Angular: npm ci y build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- Terraform: fmt, init sin backend y validate</a:t>
            </a:r>
          </a:p>
          <a:p>
            <a:r>
              <a:rPr lang="es-MX" sz="1700">
                <a:solidFill>
                  <a:srgbClr val="334155"/>
                </a:solidFill>
                <a:latin typeface="Aptos" panose="020B0004020202020204" pitchFamily="34" charset="0"/>
              </a:rPr>
              <a:t>- Objetivo: proteger main antes del despliegue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C0CB7AD-9802-6265-6D3F-5D5D15E97F61}"/>
              </a:ext>
            </a:extLst>
          </p:cNvPr>
          <p:cNvSpPr/>
          <p:nvPr/>
        </p:nvSpPr>
        <p:spPr>
          <a:xfrm>
            <a:off x="6502400" y="1346200"/>
            <a:ext cx="5003800" cy="308447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9145B1-20C5-9464-BF43-DF6AD537846B}"/>
              </a:ext>
            </a:extLst>
          </p:cNvPr>
          <p:cNvSpPr txBox="1"/>
          <p:nvPr/>
        </p:nvSpPr>
        <p:spPr>
          <a:xfrm>
            <a:off x="6883400" y="1676400"/>
            <a:ext cx="3810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CD - Jenkins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6F5BD32-6304-FF41-D004-5CBE034E4EBA}"/>
              </a:ext>
            </a:extLst>
          </p:cNvPr>
          <p:cNvSpPr txBox="1"/>
          <p:nvPr/>
        </p:nvSpPr>
        <p:spPr>
          <a:xfrm>
            <a:off x="6908799" y="2286000"/>
            <a:ext cx="4441505" cy="193386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- Resolver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metadata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version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inmutable v&lt;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version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&gt;-&lt;sha7&gt;</a:t>
            </a: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Tests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backend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build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frontend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Build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/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push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de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imagenes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backend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frontend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- Key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Vault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y secretos de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jenkins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Terraform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init</a:t>
            </a:r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, plan y </a:t>
            </a:r>
            <a:r>
              <a:rPr lang="es-MX" sz="1700" dirty="0" err="1">
                <a:solidFill>
                  <a:srgbClr val="334155"/>
                </a:solidFill>
                <a:latin typeface="Aptos" panose="020B0004020202020204" pitchFamily="34" charset="0"/>
              </a:rPr>
              <a:t>apply</a:t>
            </a:r>
            <a:endParaRPr lang="es-MX" sz="17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sz="1700" dirty="0">
                <a:solidFill>
                  <a:srgbClr val="334155"/>
                </a:solidFill>
                <a:latin typeface="Aptos" panose="020B0004020202020204" pitchFamily="34" charset="0"/>
              </a:rPr>
              <a:t>- Compuerta manual para Test/producción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8B17565F-C205-5C29-7EB3-7D552A1E2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30"/>
          <a:stretch>
            <a:fillRect/>
          </a:stretch>
        </p:blipFill>
        <p:spPr>
          <a:xfrm>
            <a:off x="58723" y="5083728"/>
            <a:ext cx="11887435" cy="121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1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0DCDC8A-D91F-8E75-EA70-498E270D43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B9C7A0-49B6-5774-ACA4-87433FA32E3F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666F0A5-9E69-BC68-3E4D-C7E0BDDE2D0C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9DD569-2A1B-26EE-A37D-404DCA1843AA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Incidencias Reales y Aprendizajes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6EA6B5-16F2-1689-6334-C9A72809C0C7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EC" sz="1100">
                <a:solidFill>
                  <a:srgbClr val="E0F2FE"/>
                </a:solidFill>
                <a:latin typeface="Aptos" panose="020B0004020202020204" pitchFamily="34" charset="0"/>
              </a:rPr>
              <a:t>Lo que se ajusto durante el despliegue</a:t>
            </a:r>
            <a:endParaRPr lang="es-MX" sz="11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149F4E-A84E-6AAF-1A1C-2DE00EA191CC}"/>
              </a:ext>
            </a:extLst>
          </p:cNvPr>
          <p:cNvSpPr txBox="1"/>
          <p:nvPr/>
        </p:nvSpPr>
        <p:spPr>
          <a:xfrm>
            <a:off x="939800" y="1320800"/>
            <a:ext cx="10414000" cy="259558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Capacidad y cuota: Standard_B2s no disponible inicialmente en East US; se homologaron ambientes a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centralus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Arquitectura de VM: se descarto SKU Arm64 por incompatibilidad con el escenario</a:t>
            </a: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PostgreSQL: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restriccion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regional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LocationIsOfferRestricted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en la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suscripcion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RBAC: Jenkins necesitaba permisos para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roleAssignments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/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write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sobre Key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Vault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Providers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: registro de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Microsoft.App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Microsoft.OperationalInsights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Pipeline: ajuste de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ansicolor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, secretos,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Terraform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quality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y verbosidad de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dotnet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publish</a:t>
            </a:r>
            <a:endParaRPr lang="es-MX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Frontend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: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correccion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del proxy para reenviar Host hacia el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backend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interno</a:t>
            </a:r>
            <a:b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</a:b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- </a:t>
            </a:r>
            <a:r>
              <a:rPr lang="es-MX" dirty="0" err="1">
                <a:solidFill>
                  <a:srgbClr val="334155"/>
                </a:solidFill>
                <a:latin typeface="Aptos" panose="020B0004020202020204" pitchFamily="34" charset="0"/>
              </a:rPr>
              <a:t>Register</a:t>
            </a:r>
            <a:r>
              <a:rPr lang="es-MX" dirty="0">
                <a:solidFill>
                  <a:srgbClr val="334155"/>
                </a:solidFill>
                <a:latin typeface="Aptos" panose="020B0004020202020204" pitchFamily="34" charset="0"/>
              </a:rPr>
              <a:t> Imágenes Docker Hub Personal</a:t>
            </a:r>
          </a:p>
        </p:txBody>
      </p:sp>
    </p:spTree>
    <p:extLst>
      <p:ext uri="{BB962C8B-B14F-4D97-AF65-F5344CB8AC3E}">
        <p14:creationId xmlns:p14="http://schemas.microsoft.com/office/powerpoint/2010/main" val="16344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7FCFC75-D9D6-F9F4-FCAE-84530DD847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097CBDC-B4FD-155F-A411-2CE7B8598E6F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59BB732-2255-0763-F0EF-329E90C4C5E7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58CBDE-4C17-4590-AD1F-F094AFC54568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Resultados Obtenidos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8417B38-0EE2-6A82-62D0-2AA817C3D1BF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Valor entregado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D173FD3-F892-9B63-55E8-992FD502FCC8}"/>
              </a:ext>
            </a:extLst>
          </p:cNvPr>
          <p:cNvSpPr/>
          <p:nvPr/>
        </p:nvSpPr>
        <p:spPr>
          <a:xfrm>
            <a:off x="711200" y="1320800"/>
            <a:ext cx="317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A9BEC30-7BCE-3D36-95C5-13DAD3ABCE50}"/>
              </a:ext>
            </a:extLst>
          </p:cNvPr>
          <p:cNvSpPr/>
          <p:nvPr/>
        </p:nvSpPr>
        <p:spPr>
          <a:xfrm>
            <a:off x="711200" y="1320800"/>
            <a:ext cx="88900" cy="1168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CEBFB9F-32C4-F70E-BDB9-D0ED4475D443}"/>
              </a:ext>
            </a:extLst>
          </p:cNvPr>
          <p:cNvSpPr txBox="1"/>
          <p:nvPr/>
        </p:nvSpPr>
        <p:spPr>
          <a:xfrm>
            <a:off x="939800" y="1447800"/>
            <a:ext cx="28194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2563EB"/>
                </a:solidFill>
                <a:latin typeface="Aptos" panose="020B0004020202020204" pitchFamily="34" charset="0"/>
              </a:rPr>
              <a:t>IaC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4D45-1DE2-24B7-82C2-33F6B7AA68E5}"/>
              </a:ext>
            </a:extLst>
          </p:cNvPr>
          <p:cNvSpPr txBox="1"/>
          <p:nvPr/>
        </p:nvSpPr>
        <p:spPr>
          <a:xfrm>
            <a:off x="939800" y="1930400"/>
            <a:ext cx="28194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100">
                <a:solidFill>
                  <a:srgbClr val="64748B"/>
                </a:solidFill>
                <a:latin typeface="Aptos" panose="020B0004020202020204" pitchFamily="34" charset="0"/>
              </a:rPr>
              <a:t>Infraestructura versionada, reproducible y multiambiente</a:t>
            </a:r>
            <a:endParaRPr lang="es-MX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07F096F-DB9A-B84C-AB0B-74E43F23CEFD}"/>
              </a:ext>
            </a:extLst>
          </p:cNvPr>
          <p:cNvSpPr/>
          <p:nvPr/>
        </p:nvSpPr>
        <p:spPr>
          <a:xfrm>
            <a:off x="4521200" y="1320800"/>
            <a:ext cx="317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E1251A8-AF1B-5949-4AEC-F700DC3F12BA}"/>
              </a:ext>
            </a:extLst>
          </p:cNvPr>
          <p:cNvSpPr/>
          <p:nvPr/>
        </p:nvSpPr>
        <p:spPr>
          <a:xfrm>
            <a:off x="4521200" y="1320800"/>
            <a:ext cx="88900" cy="11684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7878B06-C45A-E418-9D84-1878B3157299}"/>
              </a:ext>
            </a:extLst>
          </p:cNvPr>
          <p:cNvSpPr txBox="1"/>
          <p:nvPr/>
        </p:nvSpPr>
        <p:spPr>
          <a:xfrm>
            <a:off x="4749800" y="1447800"/>
            <a:ext cx="28194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06B6D4"/>
                </a:solidFill>
                <a:latin typeface="Aptos" panose="020B0004020202020204" pitchFamily="34" charset="0"/>
              </a:rPr>
              <a:t>CI/CD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3227784-0336-632D-5325-34F40551F4E0}"/>
              </a:ext>
            </a:extLst>
          </p:cNvPr>
          <p:cNvSpPr txBox="1"/>
          <p:nvPr/>
        </p:nvSpPr>
        <p:spPr>
          <a:xfrm>
            <a:off x="4749800" y="1930400"/>
            <a:ext cx="28194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100" dirty="0">
                <a:solidFill>
                  <a:srgbClr val="64748B"/>
                </a:solidFill>
                <a:latin typeface="Aptos" panose="020B0004020202020204" pitchFamily="34" charset="0"/>
              </a:rPr>
              <a:t>Build, pruebas, </a:t>
            </a:r>
            <a:r>
              <a:rPr lang="es-EC" sz="1100" dirty="0" err="1">
                <a:solidFill>
                  <a:srgbClr val="64748B"/>
                </a:solidFill>
                <a:latin typeface="Aptos" panose="020B0004020202020204" pitchFamily="34" charset="0"/>
              </a:rPr>
              <a:t>imagenes</a:t>
            </a:r>
            <a:r>
              <a:rPr lang="es-EC" sz="1100" dirty="0">
                <a:solidFill>
                  <a:srgbClr val="64748B"/>
                </a:solidFill>
                <a:latin typeface="Aptos" panose="020B0004020202020204" pitchFamily="34" charset="0"/>
              </a:rPr>
              <a:t> y despliegue automatizado</a:t>
            </a:r>
            <a:endParaRPr lang="es-MX" sz="110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DCBAE0D-5FD5-6971-7E14-B8A93EEE19D6}"/>
              </a:ext>
            </a:extLst>
          </p:cNvPr>
          <p:cNvSpPr/>
          <p:nvPr/>
        </p:nvSpPr>
        <p:spPr>
          <a:xfrm>
            <a:off x="8331200" y="1320800"/>
            <a:ext cx="317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C21235-47AB-317B-F90B-8073E07E5EAA}"/>
              </a:ext>
            </a:extLst>
          </p:cNvPr>
          <p:cNvSpPr/>
          <p:nvPr/>
        </p:nvSpPr>
        <p:spPr>
          <a:xfrm>
            <a:off x="8331200" y="1320800"/>
            <a:ext cx="88900" cy="11684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A6342F8-4FEE-5A93-EB7E-93388B11F5BD}"/>
              </a:ext>
            </a:extLst>
          </p:cNvPr>
          <p:cNvSpPr txBox="1"/>
          <p:nvPr/>
        </p:nvSpPr>
        <p:spPr>
          <a:xfrm>
            <a:off x="8559800" y="1447800"/>
            <a:ext cx="28194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22C55E"/>
                </a:solidFill>
                <a:latin typeface="Aptos" panose="020B0004020202020204" pitchFamily="34" charset="0"/>
              </a:rPr>
              <a:t>Ops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4FFD42B-B258-A364-CD2D-3950C3EBA2F3}"/>
              </a:ext>
            </a:extLst>
          </p:cNvPr>
          <p:cNvSpPr txBox="1"/>
          <p:nvPr/>
        </p:nvSpPr>
        <p:spPr>
          <a:xfrm>
            <a:off x="8559800" y="1930400"/>
            <a:ext cx="2819400" cy="4411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100">
                <a:solidFill>
                  <a:srgbClr val="64748B"/>
                </a:solidFill>
                <a:latin typeface="Aptos" panose="020B0004020202020204" pitchFamily="34" charset="0"/>
              </a:rPr>
              <a:t>Monitoreo, salud, logs y secretos centralizados</a:t>
            </a:r>
            <a:endParaRPr lang="es-MX" sz="110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716AD2A-FD2A-8FC2-C8D0-112E11FC6366}"/>
              </a:ext>
            </a:extLst>
          </p:cNvPr>
          <p:cNvSpPr txBox="1"/>
          <p:nvPr/>
        </p:nvSpPr>
        <p:spPr>
          <a:xfrm>
            <a:off x="1219200" y="3175000"/>
            <a:ext cx="9652000" cy="164147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Ambiente dev desplegado y operativo en Azure Container Apps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Aplicacion empaquetada en contenedores backend/frontend con tags inmutables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Backend no expuesto publicamente: acceso por proxy desde frontend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Adjuntos fuera de la base de datos y persistentes</a:t>
            </a:r>
          </a:p>
          <a:p>
            <a:r>
              <a:rPr lang="es-EC" sz="2000">
                <a:solidFill>
                  <a:srgbClr val="334155"/>
                </a:solidFill>
                <a:latin typeface="Aptos" panose="020B0004020202020204" pitchFamily="34" charset="0"/>
              </a:rPr>
              <a:t>- Documentacion tecnica, diagramas de arquitectura e informe final disponibles</a:t>
            </a:r>
            <a:endParaRPr lang="es-MX" sz="200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09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B1F5A2F-A5B0-79C8-6D87-58DFC91A24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84B6B5-84F8-533B-3FF7-16A58F6AB81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E28BBC-8CCA-819E-9336-39EAB9F65112}"/>
              </a:ext>
            </a:extLst>
          </p:cNvPr>
          <p:cNvSpPr/>
          <p:nvPr/>
        </p:nvSpPr>
        <p:spPr>
          <a:xfrm>
            <a:off x="0" y="736600"/>
            <a:ext cx="12192000" cy="50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FF0B55-5780-63EC-F834-B3854032064F}"/>
              </a:ext>
            </a:extLst>
          </p:cNvPr>
          <p:cNvSpPr txBox="1"/>
          <p:nvPr/>
        </p:nvSpPr>
        <p:spPr>
          <a:xfrm>
            <a:off x="457200" y="152400"/>
            <a:ext cx="9017000" cy="47192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400" b="1">
                <a:solidFill>
                  <a:srgbClr val="FFFFFF"/>
                </a:solidFill>
                <a:latin typeface="Aptos" panose="020B0004020202020204" pitchFamily="34" charset="0"/>
              </a:rPr>
              <a:t>Recomendaciones y Proximos Pasos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5688EF-F16E-30C8-90AD-7875AD3BC27C}"/>
              </a:ext>
            </a:extLst>
          </p:cNvPr>
          <p:cNvSpPr txBox="1"/>
          <p:nvPr/>
        </p:nvSpPr>
        <p:spPr>
          <a:xfrm>
            <a:off x="9017000" y="215900"/>
            <a:ext cx="2717800" cy="2718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r"/>
            <a:r>
              <a:rPr lang="es-MX" sz="1100">
                <a:solidFill>
                  <a:srgbClr val="E0F2FE"/>
                </a:solidFill>
                <a:latin typeface="Aptos" panose="020B0004020202020204" pitchFamily="34" charset="0"/>
              </a:rPr>
              <a:t>Evolucion del piloto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B88C21A-5C97-9D61-D861-3B4F09C9F139}"/>
              </a:ext>
            </a:extLst>
          </p:cNvPr>
          <p:cNvSpPr/>
          <p:nvPr/>
        </p:nvSpPr>
        <p:spPr>
          <a:xfrm>
            <a:off x="736600" y="1371600"/>
            <a:ext cx="50292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3BC738-9EFA-3859-A818-D30CE557F77B}"/>
              </a:ext>
            </a:extLst>
          </p:cNvPr>
          <p:cNvSpPr txBox="1"/>
          <p:nvPr/>
        </p:nvSpPr>
        <p:spPr>
          <a:xfrm>
            <a:off x="1092200" y="17018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Tecnico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893335E-921E-08EC-A22D-2BED66D064C9}"/>
              </a:ext>
            </a:extLst>
          </p:cNvPr>
          <p:cNvSpPr txBox="1"/>
          <p:nvPr/>
        </p:nvSpPr>
        <p:spPr>
          <a:xfrm>
            <a:off x="1117600" y="2336800"/>
            <a:ext cx="4301688" cy="256480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Completar promoción controlada a test y producción 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Formalizar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backups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restore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de PostgreSQL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Agregar escaneo de imágenes y dependencias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Definir alertas SLO para disponibilidad y errores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-Endurecer red, políticas y secretos para producción</a:t>
            </a: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Implementar validación con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Sonarqube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Veracode</a:t>
            </a:r>
            <a:endParaRPr lang="es-MX" sz="16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0ECC93E-12A0-8A16-155A-5F8A3DE3049C}"/>
              </a:ext>
            </a:extLst>
          </p:cNvPr>
          <p:cNvSpPr/>
          <p:nvPr/>
        </p:nvSpPr>
        <p:spPr>
          <a:xfrm>
            <a:off x="6502400" y="1360924"/>
            <a:ext cx="50292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5550B41-7FD5-4508-D639-1B82A37E480A}"/>
              </a:ext>
            </a:extLst>
          </p:cNvPr>
          <p:cNvSpPr txBox="1"/>
          <p:nvPr/>
        </p:nvSpPr>
        <p:spPr>
          <a:xfrm>
            <a:off x="6781800" y="1701800"/>
            <a:ext cx="4064000" cy="425758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MX" sz="2100" b="1">
                <a:solidFill>
                  <a:srgbClr val="0F172A"/>
                </a:solidFill>
                <a:latin typeface="Aptos" panose="020B0004020202020204" pitchFamily="34" charset="0"/>
              </a:rPr>
              <a:t>Gestion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554233-0001-FBE1-4967-CF5770F01C03}"/>
              </a:ext>
            </a:extLst>
          </p:cNvPr>
          <p:cNvSpPr txBox="1"/>
          <p:nvPr/>
        </p:nvSpPr>
        <p:spPr>
          <a:xfrm>
            <a:off x="6807200" y="2336800"/>
            <a:ext cx="3937000" cy="18261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Completar datos reales de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sprints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y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metricas</a:t>
            </a:r>
            <a:endParaRPr lang="es-EC" sz="1600" dirty="0">
              <a:solidFill>
                <a:srgbClr val="334155"/>
              </a:solidFill>
              <a:latin typeface="Aptos" panose="020B0004020202020204" pitchFamily="34" charset="0"/>
            </a:endParaRPr>
          </a:p>
          <a:p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- Documentar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runbooks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de incidentes y despliegue</a:t>
            </a:r>
          </a:p>
          <a:p>
            <a:pPr marL="285750" indent="-285750">
              <a:buFontTx/>
              <a:buChar char="-"/>
            </a:pP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Preparar evidencia para auditoria</a:t>
            </a:r>
          </a:p>
          <a:p>
            <a:pPr marL="285750" indent="-285750">
              <a:buFontTx/>
              <a:buChar char="-"/>
            </a:pP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Planificar mejoras de UX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segun</a:t>
            </a:r>
            <a:r>
              <a:rPr lang="es-EC" sz="1600" dirty="0">
                <a:solidFill>
                  <a:srgbClr val="334155"/>
                </a:solidFill>
                <a:latin typeface="Aptos" panose="020B0004020202020204" pitchFamily="34" charset="0"/>
              </a:rPr>
              <a:t> </a:t>
            </a:r>
            <a:r>
              <a:rPr lang="es-EC" sz="1600" dirty="0" err="1">
                <a:solidFill>
                  <a:srgbClr val="334155"/>
                </a:solidFill>
                <a:latin typeface="Aptos" panose="020B0004020202020204" pitchFamily="34" charset="0"/>
              </a:rPr>
              <a:t>retroalimentacion</a:t>
            </a:r>
            <a:endParaRPr lang="es-MX" sz="1600" dirty="0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55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95B1E05-D5DB-936A-7363-5F5D197E11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9DAE9B2-5CC8-024B-5E43-5A8D94A654A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DDA93F6-3B6D-D2A2-381D-6A83A3CDE053}"/>
              </a:ext>
            </a:extLst>
          </p:cNvPr>
          <p:cNvSpPr txBox="1"/>
          <p:nvPr/>
        </p:nvSpPr>
        <p:spPr>
          <a:xfrm>
            <a:off x="1168400" y="1600200"/>
            <a:ext cx="9652000" cy="71814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MX" sz="4000" b="1">
                <a:solidFill>
                  <a:srgbClr val="FFFFFF"/>
                </a:solidFill>
                <a:latin typeface="Aptos" panose="020B0004020202020204" pitchFamily="34" charset="0"/>
              </a:rPr>
              <a:t>Cierre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907F56-DACD-2F77-B71D-A24A5A9518D9}"/>
              </a:ext>
            </a:extLst>
          </p:cNvPr>
          <p:cNvSpPr txBox="1"/>
          <p:nvPr/>
        </p:nvSpPr>
        <p:spPr>
          <a:xfrm>
            <a:off x="1651000" y="2794000"/>
            <a:ext cx="8890000" cy="1256754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EC" sz="2500">
                <a:solidFill>
                  <a:srgbClr val="E0F2FE"/>
                </a:solidFill>
                <a:latin typeface="Aptos" panose="020B0004020202020204" pitchFamily="34" charset="0"/>
              </a:rPr>
              <a:t>El proyecto demuestra una cadena DevOps integral: backlog priorizado, aplicacion funcional, infraestructura como codigo, CI/CD multiambiente y observabilidad operativa en Azure.</a:t>
            </a:r>
            <a:endParaRPr lang="es-MX" sz="2500">
              <a:solidFill>
                <a:srgbClr val="E0F2FE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EA4BD1-DC81-7962-8AD3-F8AA58A7B1B8}"/>
              </a:ext>
            </a:extLst>
          </p:cNvPr>
          <p:cNvSpPr txBox="1"/>
          <p:nvPr/>
        </p:nvSpPr>
        <p:spPr>
          <a:xfrm>
            <a:off x="4318000" y="4953000"/>
            <a:ext cx="3556000" cy="53347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es-MX" sz="2800" b="1">
                <a:solidFill>
                  <a:srgbClr val="FFFFFF"/>
                </a:solidFill>
                <a:latin typeface="Aptos" panose="020B0004020202020204" pitchFamily="34" charset="0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16322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</TotalTime>
  <Words>754</Words>
  <Application>Microsoft Office PowerPoint</Application>
  <PresentationFormat>Panorámica</PresentationFormat>
  <Paragraphs>125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armando chavez</dc:creator>
  <cp:lastModifiedBy>armando chavez</cp:lastModifiedBy>
  <cp:revision>3</cp:revision>
  <dcterms:created xsi:type="dcterms:W3CDTF">2026-04-08T01:25:16Z</dcterms:created>
  <dcterms:modified xsi:type="dcterms:W3CDTF">2026-04-08T03:09:45Z</dcterms:modified>
</cp:coreProperties>
</file>